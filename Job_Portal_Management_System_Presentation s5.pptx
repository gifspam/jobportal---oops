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72" r:id="rId3"/>
    <p:sldId id="257" r:id="rId4"/>
    <p:sldId id="258" r:id="rId5"/>
    <p:sldId id="259" r:id="rId6"/>
    <p:sldId id="260" r:id="rId7"/>
    <p:sldId id="273" r:id="rId8"/>
    <p:sldId id="274" r:id="rId9"/>
    <p:sldId id="261" r:id="rId10"/>
    <p:sldId id="275" r:id="rId11"/>
    <p:sldId id="277" r:id="rId12"/>
    <p:sldId id="278" r:id="rId13"/>
    <p:sldId id="279" r:id="rId14"/>
    <p:sldId id="280" r:id="rId15"/>
    <p:sldId id="281" r:id="rId16"/>
    <p:sldId id="282" r:id="rId17"/>
    <p:sldId id="283" r:id="rId18"/>
    <p:sldId id="284" r:id="rId19"/>
    <p:sldId id="262" r:id="rId20"/>
    <p:sldId id="285" r:id="rId21"/>
    <p:sldId id="286" r:id="rId22"/>
    <p:sldId id="287" r:id="rId23"/>
    <p:sldId id="263" r:id="rId24"/>
    <p:sldId id="288" r:id="rId25"/>
    <p:sldId id="264" r:id="rId26"/>
    <p:sldId id="296" r:id="rId27"/>
    <p:sldId id="297" r:id="rId28"/>
    <p:sldId id="298" r:id="rId29"/>
    <p:sldId id="299" r:id="rId30"/>
    <p:sldId id="300" r:id="rId31"/>
    <p:sldId id="301" r:id="rId32"/>
    <p:sldId id="302" r:id="rId33"/>
    <p:sldId id="303" r:id="rId34"/>
    <p:sldId id="304" r:id="rId35"/>
    <p:sldId id="289" r:id="rId36"/>
    <p:sldId id="265" r:id="rId37"/>
    <p:sldId id="290" r:id="rId38"/>
    <p:sldId id="266" r:id="rId39"/>
    <p:sldId id="291" r:id="rId40"/>
    <p:sldId id="267" r:id="rId41"/>
    <p:sldId id="292" r:id="rId42"/>
    <p:sldId id="268" r:id="rId43"/>
    <p:sldId id="293" r:id="rId44"/>
    <p:sldId id="269" r:id="rId45"/>
    <p:sldId id="294" r:id="rId46"/>
    <p:sldId id="270" r:id="rId47"/>
    <p:sldId id="295" r:id="rId48"/>
    <p:sldId id="271"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82" autoAdjust="0"/>
    <p:restoredTop sz="95388" autoAdjust="0"/>
  </p:normalViewPr>
  <p:slideViewPr>
    <p:cSldViewPr snapToGrid="0" snapToObjects="1">
      <p:cViewPr>
        <p:scale>
          <a:sx n="125" d="100"/>
          <a:sy n="125" d="100"/>
        </p:scale>
        <p:origin x="-1090" y="-89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320C85-7E58-4DC1-87B8-71C13EB20968}" type="datetimeFigureOut">
              <a:rPr lang="en-IN" smtClean="0"/>
              <a:t>28-09-2026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1BCC2C-6137-44D2-839C-58827EF1FEAA}" type="slidenum">
              <a:rPr lang="en-IN" smtClean="0"/>
              <a:t>‹#›</a:t>
            </a:fld>
            <a:endParaRPr lang="en-IN"/>
          </a:p>
        </p:txBody>
      </p:sp>
    </p:spTree>
    <p:extLst>
      <p:ext uri="{BB962C8B-B14F-4D97-AF65-F5344CB8AC3E}">
        <p14:creationId xmlns:p14="http://schemas.microsoft.com/office/powerpoint/2010/main" val="933563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C1BCC2C-6137-44D2-839C-58827EF1FEAA}" type="slidenum">
              <a:rPr lang="en-IN" smtClean="0"/>
              <a:t>26</a:t>
            </a:fld>
            <a:endParaRPr lang="en-IN"/>
          </a:p>
        </p:txBody>
      </p:sp>
    </p:spTree>
    <p:extLst>
      <p:ext uri="{BB962C8B-B14F-4D97-AF65-F5344CB8AC3E}">
        <p14:creationId xmlns:p14="http://schemas.microsoft.com/office/powerpoint/2010/main" val="60931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B4D"/>
        </a:solidFill>
        <a:effectLst/>
      </p:bgPr>
    </p:bg>
    <p:spTree>
      <p:nvGrpSpPr>
        <p:cNvPr id="1" name=""/>
        <p:cNvGrpSpPr/>
        <p:nvPr/>
      </p:nvGrpSpPr>
      <p:grpSpPr>
        <a:xfrm>
          <a:off x="0" y="0"/>
          <a:ext cx="0" cy="0"/>
          <a:chOff x="0" y="0"/>
          <a:chExt cx="0" cy="0"/>
        </a:xfrm>
      </p:grpSpPr>
      <p:sp>
        <p:nvSpPr>
          <p:cNvPr id="2" name="TextBox 1"/>
          <p:cNvSpPr txBox="1"/>
          <p:nvPr/>
        </p:nvSpPr>
        <p:spPr>
          <a:xfrm>
            <a:off x="731520" y="1325880"/>
            <a:ext cx="8543749" cy="2123658"/>
          </a:xfrm>
          <a:prstGeom prst="rect">
            <a:avLst/>
          </a:prstGeom>
          <a:noFill/>
        </p:spPr>
        <p:txBody>
          <a:bodyPr wrap="none">
            <a:spAutoFit/>
          </a:bodyPr>
          <a:lstStyle/>
          <a:p>
            <a:pPr>
              <a:defRPr sz="3600" b="1">
                <a:solidFill>
                  <a:srgbClr val="FFFFFF"/>
                </a:solidFill>
              </a:defRPr>
            </a:pPr>
            <a:r>
              <a:rPr sz="6600" dirty="0"/>
              <a:t>JOB PORTAL</a:t>
            </a:r>
            <a:br>
              <a:rPr sz="6600" dirty="0"/>
            </a:br>
            <a:r>
              <a:rPr sz="6600" dirty="0"/>
              <a:t>MANAGEMENT SYSTEM</a:t>
            </a:r>
          </a:p>
        </p:txBody>
      </p:sp>
      <p:sp>
        <p:nvSpPr>
          <p:cNvPr id="4" name="TextBox 3"/>
          <p:cNvSpPr txBox="1"/>
          <p:nvPr/>
        </p:nvSpPr>
        <p:spPr>
          <a:xfrm>
            <a:off x="7940040" y="4610501"/>
            <a:ext cx="3672840" cy="1077218"/>
          </a:xfrm>
          <a:prstGeom prst="rect">
            <a:avLst/>
          </a:prstGeom>
          <a:noFill/>
        </p:spPr>
        <p:txBody>
          <a:bodyPr wrap="square">
            <a:spAutoFit/>
          </a:bodyPr>
          <a:lstStyle/>
          <a:p>
            <a:pPr>
              <a:defRPr sz="1600">
                <a:solidFill>
                  <a:srgbClr val="FFFFFF"/>
                </a:solidFill>
              </a:defRPr>
            </a:pPr>
            <a:r>
              <a:rPr dirty="0"/>
              <a:t>DARSANA R (24102817)  </a:t>
            </a:r>
            <a:endParaRPr lang="en-IN" dirty="0"/>
          </a:p>
          <a:p>
            <a:pPr>
              <a:defRPr sz="1600">
                <a:solidFill>
                  <a:srgbClr val="FFFFFF"/>
                </a:solidFill>
              </a:defRPr>
            </a:pPr>
            <a:r>
              <a:rPr dirty="0"/>
              <a:t>DIYA LAL N (24102299)</a:t>
            </a:r>
            <a:br>
              <a:rPr dirty="0"/>
            </a:br>
            <a:r>
              <a:rPr dirty="0"/>
              <a:t>GOPIKA K (24102623)  </a:t>
            </a:r>
            <a:endParaRPr lang="en-IN" dirty="0"/>
          </a:p>
          <a:p>
            <a:pPr>
              <a:defRPr sz="1600">
                <a:solidFill>
                  <a:srgbClr val="FFFFFF"/>
                </a:solidFill>
              </a:defRPr>
            </a:pPr>
            <a:r>
              <a:rPr dirty="0"/>
              <a:t>K S MOHAMMED SHAHAL (24102259)</a:t>
            </a:r>
          </a:p>
        </p:txBody>
      </p:sp>
      <p:sp>
        <p:nvSpPr>
          <p:cNvPr id="5" name="TextBox 4"/>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2057" y="2740796"/>
            <a:ext cx="6096000" cy="923330"/>
          </a:xfrm>
          <a:prstGeom prst="rect">
            <a:avLst/>
          </a:prstGeom>
        </p:spPr>
        <p:txBody>
          <a:bodyPr>
            <a:spAutoFit/>
          </a:bodyPr>
          <a:lstStyle/>
          <a:p>
            <a:pPr algn="ctr"/>
            <a:r>
              <a:rPr lang="en-IN" sz="5400" b="1" dirty="0"/>
              <a:t>INTRODUCTION</a:t>
            </a:r>
          </a:p>
        </p:txBody>
      </p:sp>
    </p:spTree>
    <p:extLst>
      <p:ext uri="{BB962C8B-B14F-4D97-AF65-F5344CB8AC3E}">
        <p14:creationId xmlns:p14="http://schemas.microsoft.com/office/powerpoint/2010/main" val="1884165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913601" cy="492443"/>
          </a:xfrm>
          <a:prstGeom prst="rect">
            <a:avLst/>
          </a:prstGeom>
          <a:noFill/>
        </p:spPr>
        <p:txBody>
          <a:bodyPr wrap="none">
            <a:spAutoFit/>
          </a:bodyPr>
          <a:lstStyle/>
          <a:p>
            <a:pPr>
              <a:defRPr sz="2600" b="1">
                <a:solidFill>
                  <a:srgbClr val="FFFFFF"/>
                </a:solidFill>
              </a:defRPr>
            </a:pPr>
            <a:r>
              <a:rPr dirty="0"/>
              <a:t>Introduction</a:t>
            </a:r>
          </a:p>
        </p:txBody>
      </p:sp>
      <p:sp>
        <p:nvSpPr>
          <p:cNvPr id="4" name="TextBox 3"/>
          <p:cNvSpPr txBox="1"/>
          <p:nvPr/>
        </p:nvSpPr>
        <p:spPr>
          <a:xfrm>
            <a:off x="685800" y="1234440"/>
            <a:ext cx="10789920" cy="4937760"/>
          </a:xfrm>
          <a:prstGeom prst="rect">
            <a:avLst/>
          </a:prstGeom>
          <a:noFill/>
        </p:spPr>
        <p:txBody>
          <a:bodyPr wrap="square">
            <a:spAutoFit/>
          </a:bodyPr>
          <a:lstStyle/>
          <a:p>
            <a:pPr>
              <a:spcAft>
                <a:spcPts val="1300"/>
              </a:spcAft>
              <a:defRPr sz="2000">
                <a:solidFill>
                  <a:srgbClr val="232A34"/>
                </a:solidFill>
              </a:defRPr>
            </a:pPr>
            <a:r>
              <a:t>• Centralized web-based platform connecting job seekers and recruiters.</a:t>
            </a:r>
          </a:p>
          <a:p>
            <a:pPr>
              <a:spcAft>
                <a:spcPts val="1300"/>
              </a:spcAft>
              <a:defRPr sz="2000">
                <a:solidFill>
                  <a:srgbClr val="232A34"/>
                </a:solidFill>
              </a:defRPr>
            </a:pPr>
            <a:r>
              <a:t>• Job seekers can create profiles, upload resumes, search jobs and apply online.</a:t>
            </a:r>
          </a:p>
          <a:p>
            <a:pPr>
              <a:spcAft>
                <a:spcPts val="1300"/>
              </a:spcAft>
              <a:defRPr sz="2000">
                <a:solidFill>
                  <a:srgbClr val="232A34"/>
                </a:solidFill>
              </a:defRPr>
            </a:pPr>
            <a:r>
              <a:t>• Recruiters can publish vacancies, review applications and manage recruitment.</a:t>
            </a:r>
          </a:p>
          <a:p>
            <a:pPr>
              <a:spcAft>
                <a:spcPts val="1300"/>
              </a:spcAft>
              <a:defRPr sz="2000">
                <a:solidFill>
                  <a:srgbClr val="232A34"/>
                </a:solidFill>
              </a:defRPr>
            </a:pPr>
            <a:r>
              <a:t>• Centralized records improve organization, accessibility and recruitment efficiency.</a:t>
            </a:r>
          </a:p>
        </p:txBody>
      </p:sp>
      <p:sp>
        <p:nvSpPr>
          <p:cNvPr id="5" name="TextBox 4"/>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739305" cy="492443"/>
          </a:xfrm>
          <a:prstGeom prst="rect">
            <a:avLst/>
          </a:prstGeom>
          <a:noFill/>
        </p:spPr>
        <p:txBody>
          <a:bodyPr wrap="none">
            <a:spAutoFit/>
          </a:bodyPr>
          <a:lstStyle/>
          <a:p>
            <a:pPr>
              <a:defRPr sz="2600" b="1">
                <a:solidFill>
                  <a:srgbClr val="FFFFFF"/>
                </a:solidFill>
              </a:defRPr>
            </a:pPr>
            <a:r>
              <a:rPr dirty="0"/>
              <a:t>Aim</a:t>
            </a:r>
          </a:p>
        </p:txBody>
      </p:sp>
      <p:sp>
        <p:nvSpPr>
          <p:cNvPr id="4" name="Rounded Rectangle 3"/>
          <p:cNvSpPr/>
          <p:nvPr/>
        </p:nvSpPr>
        <p:spPr>
          <a:xfrm>
            <a:off x="731520" y="1325880"/>
            <a:ext cx="5212080" cy="1828800"/>
          </a:xfrm>
          <a:prstGeom prst="roundRect">
            <a:avLst/>
          </a:prstGeom>
          <a:solidFill>
            <a:srgbClr val="F2F6FC"/>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325880"/>
            <a:ext cx="73152" cy="1828800"/>
          </a:xfrm>
          <a:prstGeom prst="rect">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490472"/>
            <a:ext cx="4800600" cy="411480"/>
          </a:xfrm>
          <a:prstGeom prst="rect">
            <a:avLst/>
          </a:prstGeom>
          <a:noFill/>
        </p:spPr>
        <p:txBody>
          <a:bodyPr wrap="none">
            <a:spAutoFit/>
          </a:bodyPr>
          <a:lstStyle/>
          <a:p>
            <a:pPr>
              <a:defRPr sz="1700" b="1">
                <a:solidFill>
                  <a:srgbClr val="182B4D"/>
                </a:solidFill>
              </a:defRPr>
            </a:pPr>
            <a:r>
              <a:t>Primary Aim</a:t>
            </a:r>
          </a:p>
        </p:txBody>
      </p:sp>
      <p:sp>
        <p:nvSpPr>
          <p:cNvPr id="7" name="TextBox 6"/>
          <p:cNvSpPr txBox="1"/>
          <p:nvPr/>
        </p:nvSpPr>
        <p:spPr>
          <a:xfrm>
            <a:off x="960120" y="2011680"/>
            <a:ext cx="4800600" cy="914400"/>
          </a:xfrm>
          <a:prstGeom prst="rect">
            <a:avLst/>
          </a:prstGeom>
          <a:noFill/>
        </p:spPr>
        <p:txBody>
          <a:bodyPr wrap="square">
            <a:spAutoFit/>
          </a:bodyPr>
          <a:lstStyle/>
          <a:p>
            <a:pPr>
              <a:defRPr sz="1300">
                <a:solidFill>
                  <a:srgbClr val="232A34"/>
                </a:solidFill>
              </a:defRPr>
            </a:pPr>
            <a:r>
              <a:t>To provide a centralized web-based job portal that simplifies job searching and streamlines recruitment activities.</a:t>
            </a:r>
          </a:p>
        </p:txBody>
      </p:sp>
      <p:sp>
        <p:nvSpPr>
          <p:cNvPr id="8" name="Rounded Rectangle 7"/>
          <p:cNvSpPr/>
          <p:nvPr/>
        </p:nvSpPr>
        <p:spPr>
          <a:xfrm>
            <a:off x="6217920" y="1325880"/>
            <a:ext cx="5212080" cy="1828800"/>
          </a:xfrm>
          <a:prstGeom prst="roundRect">
            <a:avLst/>
          </a:prstGeom>
          <a:solidFill>
            <a:srgbClr val="F2F6FC"/>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17920" y="1325880"/>
            <a:ext cx="73152" cy="1828800"/>
          </a:xfrm>
          <a:prstGeom prst="rect">
            <a:avLst/>
          </a:prstGeom>
          <a:solidFill>
            <a:srgbClr val="2D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490472"/>
            <a:ext cx="4800600" cy="411480"/>
          </a:xfrm>
          <a:prstGeom prst="rect">
            <a:avLst/>
          </a:prstGeom>
          <a:noFill/>
        </p:spPr>
        <p:txBody>
          <a:bodyPr wrap="none">
            <a:spAutoFit/>
          </a:bodyPr>
          <a:lstStyle/>
          <a:p>
            <a:pPr>
              <a:defRPr sz="1700" b="1">
                <a:solidFill>
                  <a:srgbClr val="182B4D"/>
                </a:solidFill>
              </a:defRPr>
            </a:pPr>
            <a:r>
              <a:t>Expected Outcome</a:t>
            </a:r>
          </a:p>
        </p:txBody>
      </p:sp>
      <p:sp>
        <p:nvSpPr>
          <p:cNvPr id="11" name="TextBox 10"/>
          <p:cNvSpPr txBox="1"/>
          <p:nvPr/>
        </p:nvSpPr>
        <p:spPr>
          <a:xfrm>
            <a:off x="6446520" y="2011680"/>
            <a:ext cx="4800600" cy="914400"/>
          </a:xfrm>
          <a:prstGeom prst="rect">
            <a:avLst/>
          </a:prstGeom>
          <a:noFill/>
        </p:spPr>
        <p:txBody>
          <a:bodyPr wrap="square">
            <a:spAutoFit/>
          </a:bodyPr>
          <a:lstStyle/>
          <a:p>
            <a:pPr>
              <a:defRPr sz="1300">
                <a:solidFill>
                  <a:srgbClr val="232A34"/>
                </a:solidFill>
              </a:defRPr>
            </a:pPr>
            <a:r>
              <a:t>Enable candidates and recruiters to interact through an organized, accessible and secure recruitment platform.</a:t>
            </a:r>
          </a:p>
        </p:txBody>
      </p:sp>
      <p:sp>
        <p:nvSpPr>
          <p:cNvPr id="12" name="TextBox 11"/>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502463" cy="492443"/>
          </a:xfrm>
          <a:prstGeom prst="rect">
            <a:avLst/>
          </a:prstGeom>
          <a:noFill/>
        </p:spPr>
        <p:txBody>
          <a:bodyPr wrap="none">
            <a:spAutoFit/>
          </a:bodyPr>
          <a:lstStyle/>
          <a:p>
            <a:pPr>
              <a:defRPr sz="2600" b="1">
                <a:solidFill>
                  <a:srgbClr val="FFFFFF"/>
                </a:solidFill>
              </a:defRPr>
            </a:pPr>
            <a:r>
              <a:rPr dirty="0"/>
              <a:t>Objective</a:t>
            </a:r>
          </a:p>
        </p:txBody>
      </p:sp>
      <p:sp>
        <p:nvSpPr>
          <p:cNvPr id="4" name="TextBox 3"/>
          <p:cNvSpPr txBox="1"/>
          <p:nvPr/>
        </p:nvSpPr>
        <p:spPr>
          <a:xfrm>
            <a:off x="685800" y="1234440"/>
            <a:ext cx="10789920" cy="4937760"/>
          </a:xfrm>
          <a:prstGeom prst="rect">
            <a:avLst/>
          </a:prstGeom>
          <a:noFill/>
        </p:spPr>
        <p:txBody>
          <a:bodyPr wrap="square">
            <a:spAutoFit/>
          </a:bodyPr>
          <a:lstStyle/>
          <a:p>
            <a:pPr>
              <a:spcAft>
                <a:spcPts val="1300"/>
              </a:spcAft>
              <a:defRPr sz="2000">
                <a:solidFill>
                  <a:srgbClr val="232A34"/>
                </a:solidFill>
              </a:defRPr>
            </a:pPr>
            <a:r>
              <a:t>• Enable job seekers to maintain profiles and resumes and search for suitable jobs.</a:t>
            </a:r>
          </a:p>
          <a:p>
            <a:pPr>
              <a:spcAft>
                <a:spcPts val="1300"/>
              </a:spcAft>
              <a:defRPr sz="2000">
                <a:solidFill>
                  <a:srgbClr val="232A34"/>
                </a:solidFill>
              </a:defRPr>
            </a:pPr>
            <a:r>
              <a:t>• Allow online job applications and application-status tracking.</a:t>
            </a:r>
          </a:p>
          <a:p>
            <a:pPr>
              <a:spcAft>
                <a:spcPts val="1300"/>
              </a:spcAft>
              <a:defRPr sz="2000">
                <a:solidFill>
                  <a:srgbClr val="232A34"/>
                </a:solidFill>
              </a:defRPr>
            </a:pPr>
            <a:r>
              <a:t>• Allow recruiters to create, update and manage job vacancies and applications.</a:t>
            </a:r>
          </a:p>
          <a:p>
            <a:pPr>
              <a:spcAft>
                <a:spcPts val="1300"/>
              </a:spcAft>
              <a:defRPr sz="2000">
                <a:solidFill>
                  <a:srgbClr val="232A34"/>
                </a:solidFill>
              </a:defRPr>
            </a:pPr>
            <a:r>
              <a:t>• Provide administrators with user, recruiter and platform management controls.</a:t>
            </a:r>
          </a:p>
        </p:txBody>
      </p:sp>
      <p:sp>
        <p:nvSpPr>
          <p:cNvPr id="5" name="TextBox 4"/>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07007" cy="492443"/>
          </a:xfrm>
          <a:prstGeom prst="rect">
            <a:avLst/>
          </a:prstGeom>
          <a:noFill/>
        </p:spPr>
        <p:txBody>
          <a:bodyPr wrap="none">
            <a:spAutoFit/>
          </a:bodyPr>
          <a:lstStyle/>
          <a:p>
            <a:pPr>
              <a:defRPr sz="2600" b="1">
                <a:solidFill>
                  <a:srgbClr val="FFFFFF"/>
                </a:solidFill>
              </a:defRPr>
            </a:pPr>
            <a:r>
              <a:rPr dirty="0"/>
              <a:t>Scope</a:t>
            </a:r>
          </a:p>
        </p:txBody>
      </p:sp>
      <p:sp>
        <p:nvSpPr>
          <p:cNvPr id="4" name="TextBox 3"/>
          <p:cNvSpPr txBox="1"/>
          <p:nvPr/>
        </p:nvSpPr>
        <p:spPr>
          <a:xfrm>
            <a:off x="685800" y="1234440"/>
            <a:ext cx="10789920" cy="4937760"/>
          </a:xfrm>
          <a:prstGeom prst="rect">
            <a:avLst/>
          </a:prstGeom>
          <a:noFill/>
        </p:spPr>
        <p:txBody>
          <a:bodyPr wrap="square">
            <a:spAutoFit/>
          </a:bodyPr>
          <a:lstStyle/>
          <a:p>
            <a:pPr>
              <a:spcAft>
                <a:spcPts val="1300"/>
              </a:spcAft>
              <a:defRPr sz="2000">
                <a:solidFill>
                  <a:srgbClr val="232A34"/>
                </a:solidFill>
              </a:defRPr>
            </a:pPr>
            <a:r>
              <a:t>• Job discovery: search and filter opportunities using location, salary, experience and job type.</a:t>
            </a:r>
          </a:p>
          <a:p>
            <a:pPr>
              <a:spcAft>
                <a:spcPts val="1300"/>
              </a:spcAft>
              <a:defRPr sz="2000">
                <a:solidFill>
                  <a:srgbClr val="232A34"/>
                </a:solidFill>
              </a:defRPr>
            </a:pPr>
            <a:r>
              <a:t>• Recruitment management: job posting, applicant review, shortlisting and decisions.</a:t>
            </a:r>
          </a:p>
          <a:p>
            <a:pPr>
              <a:spcAft>
                <a:spcPts val="1300"/>
              </a:spcAft>
              <a:defRPr sz="2000">
                <a:solidFill>
                  <a:srgbClr val="232A34"/>
                </a:solidFill>
              </a:defRPr>
            </a:pPr>
            <a:r>
              <a:t>• Administration: user management, recruiter approval and monitoring.</a:t>
            </a:r>
          </a:p>
          <a:p>
            <a:pPr>
              <a:spcAft>
                <a:spcPts val="1300"/>
              </a:spcAft>
              <a:defRPr sz="2000">
                <a:solidFill>
                  <a:srgbClr val="232A34"/>
                </a:solidFill>
              </a:defRPr>
            </a:pPr>
            <a:r>
              <a:t>• Centralized data management for profiles, jobs, applications and administrative records.</a:t>
            </a:r>
          </a:p>
        </p:txBody>
      </p:sp>
      <p:sp>
        <p:nvSpPr>
          <p:cNvPr id="5" name="TextBox 4"/>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32785" y="2782669"/>
            <a:ext cx="8726428" cy="923330"/>
          </a:xfrm>
          <a:prstGeom prst="rect">
            <a:avLst/>
          </a:prstGeom>
        </p:spPr>
        <p:txBody>
          <a:bodyPr wrap="none">
            <a:spAutoFit/>
          </a:bodyPr>
          <a:lstStyle/>
          <a:p>
            <a:pPr algn="ctr"/>
            <a:r>
              <a:rPr lang="en-US" sz="5400" b="1" dirty="0"/>
              <a:t>FUNCTIONAL REQUIREMENTS</a:t>
            </a:r>
            <a:endParaRPr lang="en-IN" sz="5400" b="1" dirty="0"/>
          </a:p>
        </p:txBody>
      </p:sp>
    </p:spTree>
    <p:extLst>
      <p:ext uri="{BB962C8B-B14F-4D97-AF65-F5344CB8AC3E}">
        <p14:creationId xmlns:p14="http://schemas.microsoft.com/office/powerpoint/2010/main" val="4143636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01053" y="1331494"/>
            <a:ext cx="11293642" cy="4893647"/>
          </a:xfrm>
          <a:prstGeom prst="rect">
            <a:avLst/>
          </a:prstGeom>
        </p:spPr>
        <p:txBody>
          <a:bodyPr wrap="square">
            <a:spAutoFit/>
          </a:bodyPr>
          <a:lstStyle/>
          <a:p>
            <a:r>
              <a:rPr lang="en-US" sz="2400" dirty="0"/>
              <a:t>R.1 LOGIN</a:t>
            </a:r>
          </a:p>
          <a:p>
            <a:endParaRPr lang="en-US" sz="2400" dirty="0"/>
          </a:p>
          <a:p>
            <a:r>
              <a:rPr lang="en-US" sz="2400" dirty="0"/>
              <a:t>R.1.1 Job Seeker Login</a:t>
            </a:r>
          </a:p>
          <a:p>
            <a:r>
              <a:rPr lang="en-US" sz="2400" b="1" dirty="0"/>
              <a:t>Description: </a:t>
            </a:r>
            <a:r>
              <a:rPr lang="en-US" sz="2400" dirty="0"/>
              <a:t>The system shall authenticate registered job seekers using valid credentials and grant access to their dashboard.</a:t>
            </a:r>
          </a:p>
          <a:p>
            <a:r>
              <a:rPr lang="en-US" sz="2400" b="1" dirty="0"/>
              <a:t>Input: </a:t>
            </a:r>
            <a:r>
              <a:rPr lang="en-US" sz="2400" dirty="0"/>
              <a:t>Email , Password</a:t>
            </a:r>
          </a:p>
          <a:p>
            <a:r>
              <a:rPr lang="en-US" sz="2400" b="1" dirty="0"/>
              <a:t>Output: </a:t>
            </a:r>
            <a:r>
              <a:rPr lang="en-US" sz="2400" dirty="0"/>
              <a:t>Redirected to Job Seeker Dashboard</a:t>
            </a:r>
          </a:p>
          <a:p>
            <a:endParaRPr lang="en-US" sz="2400" dirty="0"/>
          </a:p>
          <a:p>
            <a:r>
              <a:rPr lang="en-US" sz="2400" dirty="0"/>
              <a:t>R.1.2 Recruiter Login</a:t>
            </a:r>
          </a:p>
          <a:p>
            <a:r>
              <a:rPr lang="en-US" sz="2400" b="1" dirty="0"/>
              <a:t>Description: </a:t>
            </a:r>
            <a:r>
              <a:rPr lang="en-US" sz="2400" dirty="0"/>
              <a:t>The system shall authenticate registered recruiters and allow access to the recruiter dashboard after successful login. </a:t>
            </a:r>
          </a:p>
          <a:p>
            <a:r>
              <a:rPr lang="en-US" sz="2400" b="1" dirty="0"/>
              <a:t>Input: </a:t>
            </a:r>
            <a:r>
              <a:rPr lang="en-US" sz="2400" dirty="0"/>
              <a:t>Recruiter Email/Username, Password </a:t>
            </a:r>
          </a:p>
          <a:p>
            <a:r>
              <a:rPr lang="en-US" sz="2400" b="1" dirty="0"/>
              <a:t>Output: </a:t>
            </a:r>
            <a:r>
              <a:rPr lang="en-US" sz="2400" dirty="0"/>
              <a:t>Redirected to Recruiter Dashboard </a:t>
            </a:r>
          </a:p>
        </p:txBody>
      </p:sp>
      <p:sp>
        <p:nvSpPr>
          <p:cNvPr id="4" name="Rectangle 3"/>
          <p:cNvSpPr/>
          <p:nvPr/>
        </p:nvSpPr>
        <p:spPr>
          <a:xfrm>
            <a:off x="305" y="-37323"/>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2600" b="1">
                <a:solidFill>
                  <a:srgbClr val="FFFFFF"/>
                </a:solidFill>
              </a:defRPr>
            </a:pPr>
            <a:r>
              <a:rPr lang="en-IN" dirty="0"/>
              <a:t>Functional Requirements</a:t>
            </a:r>
          </a:p>
        </p:txBody>
      </p:sp>
    </p:spTree>
    <p:extLst>
      <p:ext uri="{BB962C8B-B14F-4D97-AF65-F5344CB8AC3E}">
        <p14:creationId xmlns:p14="http://schemas.microsoft.com/office/powerpoint/2010/main" val="3835124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992"/>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54970"/>
            <a:ext cx="3653116" cy="492443"/>
          </a:xfrm>
          <a:prstGeom prst="rect">
            <a:avLst/>
          </a:prstGeom>
          <a:noFill/>
        </p:spPr>
        <p:txBody>
          <a:bodyPr wrap="none">
            <a:spAutoFit/>
          </a:bodyPr>
          <a:lstStyle/>
          <a:p>
            <a:pPr>
              <a:defRPr sz="2600" b="1">
                <a:solidFill>
                  <a:srgbClr val="FFFFFF"/>
                </a:solidFill>
              </a:defRPr>
            </a:pPr>
            <a:r>
              <a:rPr lang="en-IN" dirty="0"/>
              <a:t>Functional Requirements</a:t>
            </a:r>
            <a:endParaRPr dirty="0"/>
          </a:p>
        </p:txBody>
      </p:sp>
      <p:sp>
        <p:nvSpPr>
          <p:cNvPr id="13" name="TextBox 12"/>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6</a:t>
            </a:r>
          </a:p>
        </p:txBody>
      </p:sp>
      <p:sp>
        <p:nvSpPr>
          <p:cNvPr id="14" name="Rectangle 13"/>
          <p:cNvSpPr/>
          <p:nvPr/>
        </p:nvSpPr>
        <p:spPr>
          <a:xfrm>
            <a:off x="360145" y="1203158"/>
            <a:ext cx="10886975" cy="1938992"/>
          </a:xfrm>
          <a:prstGeom prst="rect">
            <a:avLst/>
          </a:prstGeom>
        </p:spPr>
        <p:txBody>
          <a:bodyPr wrap="square">
            <a:spAutoFit/>
          </a:bodyPr>
          <a:lstStyle/>
          <a:p>
            <a:r>
              <a:rPr lang="en-US" sz="2400" dirty="0"/>
              <a:t>R.1.3 Admin Login </a:t>
            </a:r>
          </a:p>
          <a:p>
            <a:r>
              <a:rPr lang="en-US" sz="2400" b="1" dirty="0"/>
              <a:t>Description: </a:t>
            </a:r>
            <a:r>
              <a:rPr lang="en-US" sz="2400" dirty="0"/>
              <a:t>The system shall allow the administrator to log in securely using admin credentials to manage users, recruiters, and job postings. </a:t>
            </a:r>
          </a:p>
          <a:p>
            <a:r>
              <a:rPr lang="en-US" sz="2400" b="1" dirty="0"/>
              <a:t>Input: </a:t>
            </a:r>
            <a:r>
              <a:rPr lang="en-US" sz="2400" dirty="0"/>
              <a:t>Admin Username, Password.</a:t>
            </a:r>
          </a:p>
          <a:p>
            <a:r>
              <a:rPr lang="en-US" sz="2400" b="1" dirty="0"/>
              <a:t>Output: </a:t>
            </a:r>
            <a:r>
              <a:rPr lang="en-US" sz="2400" dirty="0"/>
              <a:t>Redirected to Admin Dashboard.</a:t>
            </a:r>
          </a:p>
        </p:txBody>
      </p:sp>
      <p:sp>
        <p:nvSpPr>
          <p:cNvPr id="15" name="Rectangle 14"/>
          <p:cNvSpPr/>
          <p:nvPr/>
        </p:nvSpPr>
        <p:spPr>
          <a:xfrm>
            <a:off x="360144" y="3686941"/>
            <a:ext cx="11252735" cy="2308324"/>
          </a:xfrm>
          <a:prstGeom prst="rect">
            <a:avLst/>
          </a:prstGeom>
        </p:spPr>
        <p:txBody>
          <a:bodyPr wrap="square">
            <a:spAutoFit/>
          </a:bodyPr>
          <a:lstStyle/>
          <a:p>
            <a:r>
              <a:rPr lang="en-US" sz="2400" dirty="0"/>
              <a:t>R.2 USER REGISTRATION</a:t>
            </a:r>
          </a:p>
          <a:p>
            <a:r>
              <a:rPr lang="en-US" sz="2400" b="1" dirty="0"/>
              <a:t>Description: </a:t>
            </a:r>
            <a:r>
              <a:rPr lang="en-US" sz="2400" dirty="0"/>
              <a:t>The system shall allow new users (job seekers and recruiters) to create an account </a:t>
            </a:r>
          </a:p>
          <a:p>
            <a:r>
              <a:rPr lang="en-US" sz="2400" dirty="0"/>
              <a:t>in order to access the job portal services. </a:t>
            </a:r>
          </a:p>
          <a:p>
            <a:r>
              <a:rPr lang="en-US" sz="2400" b="1" dirty="0"/>
              <a:t>Input: </a:t>
            </a:r>
            <a:r>
              <a:rPr lang="en-US" sz="2400" dirty="0"/>
              <a:t>Name, Email, Password.</a:t>
            </a:r>
          </a:p>
          <a:p>
            <a:r>
              <a:rPr lang="en-US" sz="2400" b="1" dirty="0"/>
              <a:t>Output: </a:t>
            </a:r>
            <a:r>
              <a:rPr lang="en-US" sz="2400" dirty="0"/>
              <a:t>“Registered Successfully”.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2600" b="1">
                <a:solidFill>
                  <a:srgbClr val="FFFFFF"/>
                </a:solidFill>
              </a:defRPr>
            </a:pPr>
            <a:r>
              <a:rPr lang="en-IN" dirty="0"/>
              <a:t>Functional Requirements</a:t>
            </a:r>
          </a:p>
        </p:txBody>
      </p:sp>
      <p:sp>
        <p:nvSpPr>
          <p:cNvPr id="3" name="Rectangle 2"/>
          <p:cNvSpPr/>
          <p:nvPr/>
        </p:nvSpPr>
        <p:spPr>
          <a:xfrm>
            <a:off x="529389" y="1090863"/>
            <a:ext cx="10988843" cy="1938992"/>
          </a:xfrm>
          <a:prstGeom prst="rect">
            <a:avLst/>
          </a:prstGeom>
        </p:spPr>
        <p:txBody>
          <a:bodyPr wrap="square">
            <a:spAutoFit/>
          </a:bodyPr>
          <a:lstStyle/>
          <a:p>
            <a:r>
              <a:rPr lang="en-US" sz="2400" dirty="0"/>
              <a:t>R.3 </a:t>
            </a:r>
            <a:r>
              <a:rPr lang="en-IN" sz="2400" dirty="0"/>
              <a:t>JOB SEEKER PROFILE CREATION</a:t>
            </a:r>
            <a:endParaRPr lang="en-US" sz="2400" dirty="0"/>
          </a:p>
          <a:p>
            <a:r>
              <a:rPr lang="en-US" sz="2400" b="1" dirty="0"/>
              <a:t>Description: </a:t>
            </a:r>
            <a:r>
              <a:rPr lang="en-US" sz="2400" dirty="0"/>
              <a:t>The system shall allow job seekers to create and update their professional profile by entering educational qualifications, skills, and uploading their resume. </a:t>
            </a:r>
          </a:p>
          <a:p>
            <a:r>
              <a:rPr lang="en-US" sz="2400" b="1" dirty="0"/>
              <a:t>Input: </a:t>
            </a:r>
            <a:r>
              <a:rPr lang="en-US" sz="2400" dirty="0"/>
              <a:t>Qualification, Skills, Resume </a:t>
            </a:r>
          </a:p>
          <a:p>
            <a:r>
              <a:rPr lang="en-US" sz="2400" b="1" dirty="0"/>
              <a:t>Output: </a:t>
            </a:r>
            <a:r>
              <a:rPr lang="en-US" sz="2400" dirty="0"/>
              <a:t>Profile Created Successfully</a:t>
            </a:r>
          </a:p>
        </p:txBody>
      </p:sp>
      <p:sp>
        <p:nvSpPr>
          <p:cNvPr id="4" name="Rectangle 3"/>
          <p:cNvSpPr/>
          <p:nvPr/>
        </p:nvSpPr>
        <p:spPr>
          <a:xfrm>
            <a:off x="529389" y="3462350"/>
            <a:ext cx="10988843" cy="2308324"/>
          </a:xfrm>
          <a:prstGeom prst="rect">
            <a:avLst/>
          </a:prstGeom>
        </p:spPr>
        <p:txBody>
          <a:bodyPr wrap="square">
            <a:spAutoFit/>
          </a:bodyPr>
          <a:lstStyle/>
          <a:p>
            <a:r>
              <a:rPr lang="en-US" sz="2400" dirty="0"/>
              <a:t>R.4 </a:t>
            </a:r>
            <a:r>
              <a:rPr lang="en-IN" sz="2400" dirty="0"/>
              <a:t>SEARCH JOBS</a:t>
            </a:r>
            <a:endParaRPr lang="en-US" sz="2400" dirty="0"/>
          </a:p>
          <a:p>
            <a:r>
              <a:rPr lang="en-US" sz="2400" b="1" dirty="0"/>
              <a:t>Description: </a:t>
            </a:r>
            <a:r>
              <a:rPr lang="en-US" sz="2400" dirty="0"/>
              <a:t>The system shall allow job seekers to search for jobs using filters such as location, </a:t>
            </a:r>
          </a:p>
          <a:p>
            <a:r>
              <a:rPr lang="en-US" sz="2400" dirty="0"/>
              <a:t>salary range, experience level, and job type. </a:t>
            </a:r>
          </a:p>
          <a:p>
            <a:r>
              <a:rPr lang="en-US" sz="2400" b="1" dirty="0"/>
              <a:t>Input: </a:t>
            </a:r>
            <a:r>
              <a:rPr lang="en-US" sz="2400" dirty="0"/>
              <a:t>Location, Salary, Experience, Job Type </a:t>
            </a:r>
          </a:p>
          <a:p>
            <a:r>
              <a:rPr lang="en-US" sz="2400" b="1" dirty="0"/>
              <a:t>Output: </a:t>
            </a:r>
            <a:r>
              <a:rPr lang="en-US" sz="2400" dirty="0"/>
              <a:t>List of Available Jobs</a:t>
            </a:r>
          </a:p>
        </p:txBody>
      </p:sp>
    </p:spTree>
    <p:extLst>
      <p:ext uri="{BB962C8B-B14F-4D97-AF65-F5344CB8AC3E}">
        <p14:creationId xmlns:p14="http://schemas.microsoft.com/office/powerpoint/2010/main" val="3232554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2600" b="1">
                <a:solidFill>
                  <a:srgbClr val="FFFFFF"/>
                </a:solidFill>
              </a:defRPr>
            </a:pPr>
            <a:r>
              <a:rPr lang="en-IN"/>
              <a:t>Functional Requirements</a:t>
            </a:r>
            <a:endParaRPr lang="en-IN" dirty="0"/>
          </a:p>
        </p:txBody>
      </p:sp>
      <p:sp>
        <p:nvSpPr>
          <p:cNvPr id="3" name="Rectangle 2"/>
          <p:cNvSpPr/>
          <p:nvPr/>
        </p:nvSpPr>
        <p:spPr>
          <a:xfrm>
            <a:off x="529389" y="1090863"/>
            <a:ext cx="10988843" cy="1938992"/>
          </a:xfrm>
          <a:prstGeom prst="rect">
            <a:avLst/>
          </a:prstGeom>
        </p:spPr>
        <p:txBody>
          <a:bodyPr wrap="square">
            <a:spAutoFit/>
          </a:bodyPr>
          <a:lstStyle/>
          <a:p>
            <a:r>
              <a:rPr lang="en-US" sz="2400" dirty="0"/>
              <a:t>R.5 VIEW JOB DETAILS</a:t>
            </a:r>
          </a:p>
          <a:p>
            <a:r>
              <a:rPr lang="en-US" sz="2400" b="1" dirty="0"/>
              <a:t>Description: </a:t>
            </a:r>
            <a:r>
              <a:rPr lang="en-US" sz="2400" dirty="0"/>
              <a:t>The system shall allow users to view complete job information including job description, company details, required skills, salary, and application deadline. </a:t>
            </a:r>
          </a:p>
          <a:p>
            <a:r>
              <a:rPr lang="en-US" sz="2400" b="1" dirty="0"/>
              <a:t>Input: </a:t>
            </a:r>
            <a:r>
              <a:rPr lang="en-US" sz="2400" dirty="0"/>
              <a:t>Select Job </a:t>
            </a:r>
          </a:p>
          <a:p>
            <a:r>
              <a:rPr lang="en-US" sz="2400" b="1" dirty="0"/>
              <a:t>Output: </a:t>
            </a:r>
            <a:r>
              <a:rPr lang="en-US" sz="2400" dirty="0"/>
              <a:t>Detailed Job Information Displayed</a:t>
            </a:r>
          </a:p>
        </p:txBody>
      </p:sp>
      <p:sp>
        <p:nvSpPr>
          <p:cNvPr id="4" name="Rectangle 3"/>
          <p:cNvSpPr/>
          <p:nvPr/>
        </p:nvSpPr>
        <p:spPr>
          <a:xfrm>
            <a:off x="529389" y="3462350"/>
            <a:ext cx="10988843" cy="1938992"/>
          </a:xfrm>
          <a:prstGeom prst="rect">
            <a:avLst/>
          </a:prstGeom>
        </p:spPr>
        <p:txBody>
          <a:bodyPr wrap="square">
            <a:spAutoFit/>
          </a:bodyPr>
          <a:lstStyle/>
          <a:p>
            <a:r>
              <a:rPr lang="en-US" sz="2400" dirty="0"/>
              <a:t>R.6 APPLY FOR JOBS</a:t>
            </a:r>
          </a:p>
          <a:p>
            <a:r>
              <a:rPr lang="en-US" sz="2400" b="1" dirty="0"/>
              <a:t>Description: </a:t>
            </a:r>
            <a:r>
              <a:rPr lang="en-US" sz="2400" dirty="0"/>
              <a:t>The system shall allow job seekers to apply for a selected job by submitting their resume and required details. </a:t>
            </a:r>
          </a:p>
          <a:p>
            <a:r>
              <a:rPr lang="en-US" sz="2400" b="1" dirty="0"/>
              <a:t>Input: </a:t>
            </a:r>
            <a:r>
              <a:rPr lang="en-US" sz="2400" dirty="0"/>
              <a:t>Click Apply, Upload Resume </a:t>
            </a:r>
          </a:p>
          <a:p>
            <a:r>
              <a:rPr lang="en-US" sz="2400" b="1" dirty="0"/>
              <a:t>Output: </a:t>
            </a:r>
            <a:r>
              <a:rPr lang="en-US" sz="2400" dirty="0"/>
              <a:t>“Application Submitted Successfully”.</a:t>
            </a:r>
          </a:p>
        </p:txBody>
      </p:sp>
    </p:spTree>
    <p:extLst>
      <p:ext uri="{BB962C8B-B14F-4D97-AF65-F5344CB8AC3E}">
        <p14:creationId xmlns:p14="http://schemas.microsoft.com/office/powerpoint/2010/main" val="2398346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2600" b="1">
                <a:solidFill>
                  <a:srgbClr val="FFFFFF"/>
                </a:solidFill>
              </a:defRPr>
            </a:pPr>
            <a:r>
              <a:rPr lang="en-IN"/>
              <a:t>Functional Requirements</a:t>
            </a:r>
            <a:endParaRPr lang="en-IN" dirty="0"/>
          </a:p>
        </p:txBody>
      </p:sp>
      <p:sp>
        <p:nvSpPr>
          <p:cNvPr id="3" name="Rectangle 2"/>
          <p:cNvSpPr/>
          <p:nvPr/>
        </p:nvSpPr>
        <p:spPr>
          <a:xfrm>
            <a:off x="529389" y="1090863"/>
            <a:ext cx="10988843" cy="2308324"/>
          </a:xfrm>
          <a:prstGeom prst="rect">
            <a:avLst/>
          </a:prstGeom>
        </p:spPr>
        <p:txBody>
          <a:bodyPr wrap="square">
            <a:spAutoFit/>
          </a:bodyPr>
          <a:lstStyle/>
          <a:p>
            <a:r>
              <a:rPr lang="en-US" sz="2400" dirty="0"/>
              <a:t>R.7 POST JOB</a:t>
            </a:r>
          </a:p>
          <a:p>
            <a:r>
              <a:rPr lang="en-US" sz="2400" b="1" dirty="0"/>
              <a:t>Description: </a:t>
            </a:r>
            <a:r>
              <a:rPr lang="en-US" sz="2400" dirty="0"/>
              <a:t>The system shall allow recruiters to create and publish job postings by entering job </a:t>
            </a:r>
          </a:p>
          <a:p>
            <a:r>
              <a:rPr lang="en-US" sz="2400" dirty="0"/>
              <a:t>details such as title, skills, salary, experience, and location. </a:t>
            </a:r>
          </a:p>
          <a:p>
            <a:r>
              <a:rPr lang="en-US" sz="2400" b="1" dirty="0"/>
              <a:t>Input: </a:t>
            </a:r>
            <a:r>
              <a:rPr lang="en-US" sz="2400" dirty="0"/>
              <a:t>Job Title, Skills, Salary, Experience, Location </a:t>
            </a:r>
          </a:p>
          <a:p>
            <a:r>
              <a:rPr lang="en-US" sz="2400" b="1" dirty="0"/>
              <a:t>Output: </a:t>
            </a:r>
            <a:r>
              <a:rPr lang="en-US" sz="2400" dirty="0"/>
              <a:t>“Job Posted Successfully”</a:t>
            </a:r>
          </a:p>
        </p:txBody>
      </p:sp>
      <p:sp>
        <p:nvSpPr>
          <p:cNvPr id="5" name="Rectangle 4"/>
          <p:cNvSpPr/>
          <p:nvPr/>
        </p:nvSpPr>
        <p:spPr>
          <a:xfrm>
            <a:off x="529388" y="3831682"/>
            <a:ext cx="10988843" cy="1938992"/>
          </a:xfrm>
          <a:prstGeom prst="rect">
            <a:avLst/>
          </a:prstGeom>
        </p:spPr>
        <p:txBody>
          <a:bodyPr wrap="square">
            <a:spAutoFit/>
          </a:bodyPr>
          <a:lstStyle/>
          <a:p>
            <a:r>
              <a:rPr lang="en-US" sz="2400" dirty="0"/>
              <a:t>R.7 UPDATE/DELETE JOB</a:t>
            </a:r>
          </a:p>
          <a:p>
            <a:r>
              <a:rPr lang="en-US" sz="2400" b="1" dirty="0"/>
              <a:t>Description: </a:t>
            </a:r>
            <a:r>
              <a:rPr lang="en-US" sz="2400" dirty="0"/>
              <a:t>The system shall allow recruiters to modify or remove previously posted job listings. </a:t>
            </a:r>
          </a:p>
          <a:p>
            <a:r>
              <a:rPr lang="en-US" sz="2400" b="1" dirty="0"/>
              <a:t>Input: </a:t>
            </a:r>
            <a:r>
              <a:rPr lang="en-US" sz="2400" dirty="0"/>
              <a:t>Select Job </a:t>
            </a:r>
          </a:p>
          <a:p>
            <a:r>
              <a:rPr lang="en-US" sz="2400" b="1" dirty="0"/>
              <a:t>Output: </a:t>
            </a:r>
            <a:r>
              <a:rPr lang="en-US" sz="2400" dirty="0"/>
              <a:t>Job Updated or Deleted Successfully</a:t>
            </a:r>
          </a:p>
        </p:txBody>
      </p:sp>
    </p:spTree>
    <p:extLst>
      <p:ext uri="{BB962C8B-B14F-4D97-AF65-F5344CB8AC3E}">
        <p14:creationId xmlns:p14="http://schemas.microsoft.com/office/powerpoint/2010/main" val="3823161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2600" b="1">
                <a:solidFill>
                  <a:srgbClr val="FFFFFF"/>
                </a:solidFill>
              </a:defRPr>
            </a:pPr>
            <a:r>
              <a:rPr lang="en-IN"/>
              <a:t>Functional Requirements</a:t>
            </a:r>
            <a:endParaRPr lang="en-IN" dirty="0"/>
          </a:p>
        </p:txBody>
      </p:sp>
      <p:sp>
        <p:nvSpPr>
          <p:cNvPr id="3" name="Rectangle 2"/>
          <p:cNvSpPr/>
          <p:nvPr/>
        </p:nvSpPr>
        <p:spPr>
          <a:xfrm>
            <a:off x="529389" y="1090863"/>
            <a:ext cx="10988843" cy="2308324"/>
          </a:xfrm>
          <a:prstGeom prst="rect">
            <a:avLst/>
          </a:prstGeom>
        </p:spPr>
        <p:txBody>
          <a:bodyPr wrap="square">
            <a:spAutoFit/>
          </a:bodyPr>
          <a:lstStyle/>
          <a:p>
            <a:r>
              <a:rPr lang="en-US" sz="2400" dirty="0"/>
              <a:t>R.8 VIEW APPLICATIONS</a:t>
            </a:r>
          </a:p>
          <a:p>
            <a:r>
              <a:rPr lang="en-US" sz="2400" b="1" dirty="0"/>
              <a:t>Description: </a:t>
            </a:r>
            <a:r>
              <a:rPr lang="en-US" sz="2400" dirty="0"/>
              <a:t>The system shall allow recruiters to view the list of candidates who have applied </a:t>
            </a:r>
          </a:p>
          <a:p>
            <a:r>
              <a:rPr lang="en-US" sz="2400" dirty="0"/>
              <a:t>for a particular job posting. </a:t>
            </a:r>
          </a:p>
          <a:p>
            <a:r>
              <a:rPr lang="en-US" sz="2400" b="1" dirty="0"/>
              <a:t>Input: </a:t>
            </a:r>
            <a:r>
              <a:rPr lang="en-US" sz="2400" dirty="0"/>
              <a:t>Click “View Applications” </a:t>
            </a:r>
          </a:p>
          <a:p>
            <a:r>
              <a:rPr lang="en-US" sz="2400" b="1" dirty="0"/>
              <a:t>Output: </a:t>
            </a:r>
            <a:r>
              <a:rPr lang="en-US" sz="2400" dirty="0"/>
              <a:t>List of Applicants Displayed</a:t>
            </a:r>
          </a:p>
        </p:txBody>
      </p:sp>
      <p:sp>
        <p:nvSpPr>
          <p:cNvPr id="5" name="Rectangle 4"/>
          <p:cNvSpPr/>
          <p:nvPr/>
        </p:nvSpPr>
        <p:spPr>
          <a:xfrm>
            <a:off x="529388" y="3831682"/>
            <a:ext cx="10988843" cy="2308324"/>
          </a:xfrm>
          <a:prstGeom prst="rect">
            <a:avLst/>
          </a:prstGeom>
        </p:spPr>
        <p:txBody>
          <a:bodyPr wrap="square">
            <a:spAutoFit/>
          </a:bodyPr>
          <a:lstStyle/>
          <a:p>
            <a:r>
              <a:rPr lang="en-US" sz="2400" dirty="0"/>
              <a:t>R.9 ACCEPT/REJECT CANDIDATE </a:t>
            </a:r>
          </a:p>
          <a:p>
            <a:r>
              <a:rPr lang="en-US" sz="2400" b="1" dirty="0"/>
              <a:t>Description: </a:t>
            </a:r>
            <a:r>
              <a:rPr lang="en-US" sz="2400" dirty="0"/>
              <a:t>The system shall allow recruiters to review applications and accept or reject </a:t>
            </a:r>
          </a:p>
          <a:p>
            <a:r>
              <a:rPr lang="en-US" sz="2400" dirty="0"/>
              <a:t>candidates. The system shall notify the candidate about the decision. </a:t>
            </a:r>
          </a:p>
          <a:p>
            <a:r>
              <a:rPr lang="en-US" sz="2400" b="1" dirty="0"/>
              <a:t>Input: </a:t>
            </a:r>
            <a:r>
              <a:rPr lang="en-US" sz="2400" dirty="0"/>
              <a:t>Recruiter Selection (Accept/Reject) </a:t>
            </a:r>
          </a:p>
          <a:p>
            <a:r>
              <a:rPr lang="en-US" sz="2400" b="1" dirty="0"/>
              <a:t>Output: </a:t>
            </a:r>
            <a:r>
              <a:rPr lang="en-US" sz="2400" dirty="0"/>
              <a:t>Candidate Notified</a:t>
            </a:r>
          </a:p>
        </p:txBody>
      </p:sp>
    </p:spTree>
    <p:extLst>
      <p:ext uri="{BB962C8B-B14F-4D97-AF65-F5344CB8AC3E}">
        <p14:creationId xmlns:p14="http://schemas.microsoft.com/office/powerpoint/2010/main" val="1200433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2600" b="1">
                <a:solidFill>
                  <a:srgbClr val="FFFFFF"/>
                </a:solidFill>
              </a:defRPr>
            </a:pPr>
            <a:r>
              <a:rPr lang="en-IN"/>
              <a:t>Functional Requirements</a:t>
            </a:r>
            <a:endParaRPr lang="en-IN" dirty="0"/>
          </a:p>
        </p:txBody>
      </p:sp>
      <p:sp>
        <p:nvSpPr>
          <p:cNvPr id="3" name="Rectangle 2"/>
          <p:cNvSpPr/>
          <p:nvPr/>
        </p:nvSpPr>
        <p:spPr>
          <a:xfrm>
            <a:off x="529389" y="1090863"/>
            <a:ext cx="10988843" cy="2308324"/>
          </a:xfrm>
          <a:prstGeom prst="rect">
            <a:avLst/>
          </a:prstGeom>
        </p:spPr>
        <p:txBody>
          <a:bodyPr wrap="square">
            <a:spAutoFit/>
          </a:bodyPr>
          <a:lstStyle/>
          <a:p>
            <a:r>
              <a:rPr lang="en-US" sz="2400" dirty="0"/>
              <a:t>R.10 RECRUITER APPROVAL</a:t>
            </a:r>
          </a:p>
          <a:p>
            <a:r>
              <a:rPr lang="en-US" sz="2400" b="1" dirty="0"/>
              <a:t>Description: </a:t>
            </a:r>
            <a:r>
              <a:rPr lang="en-US" sz="2400" dirty="0"/>
              <a:t>The system shall allow the admin to review newly registered recruiters and approve </a:t>
            </a:r>
          </a:p>
          <a:p>
            <a:r>
              <a:rPr lang="en-US" sz="2400" dirty="0"/>
              <a:t>or reject their registration before granting full access to job posting features. </a:t>
            </a:r>
          </a:p>
          <a:p>
            <a:r>
              <a:rPr lang="en-US" sz="2400" b="1" dirty="0"/>
              <a:t>Input: </a:t>
            </a:r>
            <a:r>
              <a:rPr lang="en-US" sz="2400" dirty="0"/>
              <a:t>Recruiter Registration Request </a:t>
            </a:r>
          </a:p>
          <a:p>
            <a:r>
              <a:rPr lang="en-US" sz="2400" b="1" dirty="0"/>
              <a:t>Output: </a:t>
            </a:r>
            <a:r>
              <a:rPr lang="en-US" sz="2400" dirty="0"/>
              <a:t>Recruiter Approved or Rejected</a:t>
            </a:r>
          </a:p>
        </p:txBody>
      </p:sp>
      <p:sp>
        <p:nvSpPr>
          <p:cNvPr id="5" name="Rectangle 4"/>
          <p:cNvSpPr/>
          <p:nvPr/>
        </p:nvSpPr>
        <p:spPr>
          <a:xfrm>
            <a:off x="529388" y="3639177"/>
            <a:ext cx="10988843" cy="3046988"/>
          </a:xfrm>
          <a:prstGeom prst="rect">
            <a:avLst/>
          </a:prstGeom>
        </p:spPr>
        <p:txBody>
          <a:bodyPr wrap="square">
            <a:spAutoFit/>
          </a:bodyPr>
          <a:lstStyle/>
          <a:p>
            <a:r>
              <a:rPr lang="en-US" sz="2400" dirty="0"/>
              <a:t>R.11 MANAGE USERS</a:t>
            </a:r>
          </a:p>
          <a:p>
            <a:r>
              <a:rPr lang="en-US" sz="2400" b="1" dirty="0"/>
              <a:t>Description: </a:t>
            </a:r>
            <a:r>
              <a:rPr lang="en-US" sz="2400" dirty="0"/>
              <a:t>The system shall allow the administrator to manage registered users to maintain system security </a:t>
            </a:r>
          </a:p>
          <a:p>
            <a:r>
              <a:rPr lang="en-US" sz="2400" dirty="0"/>
              <a:t>and data integrity. The admin can monitor user activities, delete fake or inactive accounts, block </a:t>
            </a:r>
          </a:p>
          <a:p>
            <a:r>
              <a:rPr lang="en-US" sz="2400" dirty="0"/>
              <a:t>users who violate policies, and maintain the overall user database. </a:t>
            </a:r>
          </a:p>
          <a:p>
            <a:r>
              <a:rPr lang="en-US" sz="2400" b="1" dirty="0"/>
              <a:t>Input: </a:t>
            </a:r>
            <a:r>
              <a:rPr lang="en-US" sz="2400" dirty="0"/>
              <a:t>Admin selects user account </a:t>
            </a:r>
          </a:p>
          <a:p>
            <a:r>
              <a:rPr lang="en-US" sz="2400" b="1" dirty="0"/>
              <a:t>Output: </a:t>
            </a:r>
            <a:r>
              <a:rPr lang="en-US" sz="2400" dirty="0"/>
              <a:t>User deleted, blocked, or database updated successfully</a:t>
            </a:r>
          </a:p>
        </p:txBody>
      </p:sp>
    </p:spTree>
    <p:extLst>
      <p:ext uri="{BB962C8B-B14F-4D97-AF65-F5344CB8AC3E}">
        <p14:creationId xmlns:p14="http://schemas.microsoft.com/office/powerpoint/2010/main" val="2793388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8252" y="2448914"/>
            <a:ext cx="9386596" cy="1754326"/>
          </a:xfrm>
          <a:prstGeom prst="rect">
            <a:avLst/>
          </a:prstGeom>
        </p:spPr>
        <p:txBody>
          <a:bodyPr wrap="square">
            <a:spAutoFit/>
          </a:bodyPr>
          <a:lstStyle/>
          <a:p>
            <a:pPr algn="ctr"/>
            <a:r>
              <a:rPr lang="en-US" sz="5400" b="1" dirty="0"/>
              <a:t>NON FUNCTIONAL REQUIREMENTS</a:t>
            </a:r>
            <a:endParaRPr lang="en-IN" sz="5400" b="1" dirty="0"/>
          </a:p>
        </p:txBody>
      </p:sp>
    </p:spTree>
    <p:extLst>
      <p:ext uri="{BB962C8B-B14F-4D97-AF65-F5344CB8AC3E}">
        <p14:creationId xmlns:p14="http://schemas.microsoft.com/office/powerpoint/2010/main" val="1358891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2600" b="1">
                <a:solidFill>
                  <a:srgbClr val="FFFFFF"/>
                </a:solidFill>
              </a:defRPr>
            </a:pPr>
            <a:r>
              <a:rPr lang="en-IN" dirty="0"/>
              <a:t>Non Functional Requirements</a:t>
            </a:r>
          </a:p>
        </p:txBody>
      </p:sp>
      <p:sp>
        <p:nvSpPr>
          <p:cNvPr id="3" name="Rectangle 2"/>
          <p:cNvSpPr/>
          <p:nvPr/>
        </p:nvSpPr>
        <p:spPr>
          <a:xfrm>
            <a:off x="529389" y="1411704"/>
            <a:ext cx="11117179" cy="4401205"/>
          </a:xfrm>
          <a:prstGeom prst="rect">
            <a:avLst/>
          </a:prstGeom>
        </p:spPr>
        <p:txBody>
          <a:bodyPr wrap="square">
            <a:spAutoFit/>
          </a:bodyPr>
          <a:lstStyle/>
          <a:p>
            <a:r>
              <a:rPr lang="en-US" sz="2800" b="1" dirty="0"/>
              <a:t>1. PERFORMANCE</a:t>
            </a:r>
          </a:p>
          <a:p>
            <a:r>
              <a:rPr lang="en-US" sz="2800" dirty="0"/>
              <a:t>The system must be fast and responsive, even when handling large user data. System should load pages quickly and support many users simultaneously</a:t>
            </a:r>
          </a:p>
          <a:p>
            <a:r>
              <a:rPr lang="en-US" sz="2800" b="1" dirty="0"/>
              <a:t>2. COMPATIBILITY</a:t>
            </a:r>
          </a:p>
          <a:p>
            <a:r>
              <a:rPr lang="en-US" sz="2800" dirty="0"/>
              <a:t>System works on: </a:t>
            </a:r>
          </a:p>
          <a:p>
            <a:pPr marL="285750" indent="-285750">
              <a:buFont typeface="Arial" panose="020B0604020202020204" pitchFamily="34" charset="0"/>
              <a:buChar char="•"/>
            </a:pPr>
            <a:r>
              <a:rPr lang="en-US" sz="2800" dirty="0"/>
              <a:t> Mobile </a:t>
            </a:r>
          </a:p>
          <a:p>
            <a:pPr marL="285750" indent="-285750">
              <a:buFont typeface="Arial" panose="020B0604020202020204" pitchFamily="34" charset="0"/>
              <a:buChar char="•"/>
            </a:pPr>
            <a:r>
              <a:rPr lang="en-US" sz="2800" dirty="0"/>
              <a:t>Tablet </a:t>
            </a:r>
          </a:p>
          <a:p>
            <a:pPr marL="285750" indent="-285750">
              <a:buFont typeface="Arial" panose="020B0604020202020204" pitchFamily="34" charset="0"/>
              <a:buChar char="•"/>
            </a:pPr>
            <a:r>
              <a:rPr lang="en-US" sz="2800" dirty="0"/>
              <a:t> Laptop </a:t>
            </a:r>
          </a:p>
          <a:p>
            <a:pPr marL="285750" indent="-285750">
              <a:buFont typeface="Arial" panose="020B0604020202020204" pitchFamily="34" charset="0"/>
              <a:buChar char="•"/>
            </a:pPr>
            <a:r>
              <a:rPr lang="en-US" sz="2800" dirty="0"/>
              <a:t> All browsers (Chrome, Edge, Firefox)</a:t>
            </a:r>
            <a:endParaRPr lang="en-US" sz="2800" b="1" dirty="0"/>
          </a:p>
        </p:txBody>
      </p:sp>
    </p:spTree>
    <p:extLst>
      <p:ext uri="{BB962C8B-B14F-4D97-AF65-F5344CB8AC3E}">
        <p14:creationId xmlns:p14="http://schemas.microsoft.com/office/powerpoint/2010/main" val="3290771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2600" b="1">
                <a:solidFill>
                  <a:srgbClr val="FFFFFF"/>
                </a:solidFill>
              </a:defRPr>
            </a:pPr>
            <a:r>
              <a:rPr lang="en-IN" dirty="0"/>
              <a:t>Non Functional Requirements</a:t>
            </a:r>
          </a:p>
        </p:txBody>
      </p:sp>
      <p:sp>
        <p:nvSpPr>
          <p:cNvPr id="3" name="Rectangle 2"/>
          <p:cNvSpPr/>
          <p:nvPr/>
        </p:nvSpPr>
        <p:spPr>
          <a:xfrm>
            <a:off x="529389" y="978567"/>
            <a:ext cx="11117179" cy="6267550"/>
          </a:xfrm>
          <a:prstGeom prst="rect">
            <a:avLst/>
          </a:prstGeom>
        </p:spPr>
        <p:txBody>
          <a:bodyPr wrap="square">
            <a:spAutoFit/>
          </a:bodyPr>
          <a:lstStyle/>
          <a:p>
            <a:pPr>
              <a:lnSpc>
                <a:spcPct val="200000"/>
              </a:lnSpc>
            </a:pPr>
            <a:r>
              <a:rPr lang="en-US" sz="2400" b="1" dirty="0"/>
              <a:t>3. </a:t>
            </a:r>
            <a:r>
              <a:rPr lang="en-US" sz="2400" b="1" kern="0" dirty="0">
                <a:ea typeface="Times New Roman" panose="02020603050405020304" pitchFamily="18" charset="0"/>
                <a:cs typeface="Times New Roman" panose="02020603050405020304" pitchFamily="18" charset="0"/>
              </a:rPr>
              <a:t>SECURITY</a:t>
            </a:r>
            <a:endParaRPr lang="en-IN" sz="2400" kern="100" dirty="0">
              <a:latin typeface="Aptos" panose="020B0004020202020204" pitchFamily="34" charset="0"/>
              <a:ea typeface="Aptos" panose="020B0004020202020204" pitchFamily="34" charset="0"/>
              <a:cs typeface="Times New Roman" panose="02020603050405020304" pitchFamily="18" charset="0"/>
            </a:endParaRPr>
          </a:p>
          <a:p>
            <a:r>
              <a:rPr lang="en-US" sz="2400" dirty="0"/>
              <a:t>Security ensures that the data stored in the Job Portal Management System is protected from unauthorized access and misuse. The system must safeguard sensitive information such as user credentials, personal details, and job application data. Proper authentication and authorization mechanisms should be implemented to ensure that only valid users can access the system.</a:t>
            </a:r>
          </a:p>
          <a:p>
            <a:pPr>
              <a:lnSpc>
                <a:spcPct val="200000"/>
              </a:lnSpc>
            </a:pPr>
            <a:r>
              <a:rPr lang="en-US" sz="2400" b="1" dirty="0"/>
              <a:t>4.USABILITY</a:t>
            </a:r>
          </a:p>
          <a:p>
            <a:r>
              <a:rPr lang="en-US" sz="2400" dirty="0"/>
              <a:t>System should provide a simple, clear, and user-friendly interface so that both job seekers and recruiters can use the system without difficulty. The system should include clear navigation, understandable instructions, and well-organized features that allow users to quickly perform tasks such as job searching, job posting, and application submission.</a:t>
            </a:r>
          </a:p>
          <a:p>
            <a:endParaRPr lang="en-US" sz="2400" dirty="0"/>
          </a:p>
          <a:p>
            <a:pPr>
              <a:lnSpc>
                <a:spcPct val="200000"/>
              </a:lnSpc>
            </a:pPr>
            <a:endParaRPr lang="en-US" sz="2400" b="1" dirty="0"/>
          </a:p>
        </p:txBody>
      </p:sp>
    </p:spTree>
    <p:extLst>
      <p:ext uri="{BB962C8B-B14F-4D97-AF65-F5344CB8AC3E}">
        <p14:creationId xmlns:p14="http://schemas.microsoft.com/office/powerpoint/2010/main" val="195803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2907" y="2848469"/>
            <a:ext cx="7663508" cy="923330"/>
          </a:xfrm>
          <a:prstGeom prst="rect">
            <a:avLst/>
          </a:prstGeom>
        </p:spPr>
        <p:txBody>
          <a:bodyPr wrap="none">
            <a:spAutoFit/>
          </a:bodyPr>
          <a:lstStyle/>
          <a:p>
            <a:pPr algn="ctr"/>
            <a:r>
              <a:rPr lang="en-US" sz="5400" b="1" dirty="0"/>
              <a:t>MODULES AND WORKING</a:t>
            </a:r>
            <a:endParaRPr lang="en-IN" sz="5400" b="1" dirty="0"/>
          </a:p>
        </p:txBody>
      </p:sp>
    </p:spTree>
    <p:extLst>
      <p:ext uri="{BB962C8B-B14F-4D97-AF65-F5344CB8AC3E}">
        <p14:creationId xmlns:p14="http://schemas.microsoft.com/office/powerpoint/2010/main" val="726938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398140" cy="492443"/>
          </a:xfrm>
          <a:prstGeom prst="rect">
            <a:avLst/>
          </a:prstGeom>
          <a:noFill/>
        </p:spPr>
        <p:txBody>
          <a:bodyPr wrap="none">
            <a:spAutoFit/>
          </a:bodyPr>
          <a:lstStyle/>
          <a:p>
            <a:pPr>
              <a:defRPr sz="2600" b="1">
                <a:solidFill>
                  <a:srgbClr val="FFFFFF"/>
                </a:solidFill>
              </a:defRPr>
            </a:pPr>
            <a:r>
              <a:rPr dirty="0"/>
              <a:t>Modules</a:t>
            </a:r>
          </a:p>
        </p:txBody>
      </p:sp>
      <p:sp>
        <p:nvSpPr>
          <p:cNvPr id="16" name="TextBox 15"/>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7</a:t>
            </a:r>
          </a:p>
        </p:txBody>
      </p:sp>
      <p:sp>
        <p:nvSpPr>
          <p:cNvPr id="17" name="Rectangle 16"/>
          <p:cNvSpPr/>
          <p:nvPr/>
        </p:nvSpPr>
        <p:spPr>
          <a:xfrm>
            <a:off x="502920" y="1395663"/>
            <a:ext cx="11109960" cy="4524315"/>
          </a:xfrm>
          <a:prstGeom prst="rect">
            <a:avLst/>
          </a:prstGeom>
        </p:spPr>
        <p:txBody>
          <a:bodyPr wrap="square">
            <a:spAutoFit/>
          </a:bodyPr>
          <a:lstStyle/>
          <a:p>
            <a:r>
              <a:rPr lang="en-US" sz="2400" dirty="0"/>
              <a:t>1.JOB SEEKER MODULE</a:t>
            </a:r>
          </a:p>
          <a:p>
            <a:pPr marL="285750" indent="-285750">
              <a:buFont typeface="Arial" panose="020B0604020202020204" pitchFamily="34" charset="0"/>
              <a:buChar char="•"/>
            </a:pPr>
            <a:r>
              <a:rPr lang="en-IN" sz="2400" dirty="0"/>
              <a:t>This module provides functionalities for job seekers to create and manage profiles containing personal, educational, and professional details.</a:t>
            </a:r>
          </a:p>
          <a:p>
            <a:pPr marL="285750" indent="-285750">
              <a:buFont typeface="Arial" panose="020B0604020202020204" pitchFamily="34" charset="0"/>
              <a:buChar char="•"/>
            </a:pPr>
            <a:r>
              <a:rPr lang="en-IN" sz="2400" dirty="0"/>
              <a:t>Users can search and filter job listings based on skills, location, and job title . Applications can be submitted only after uploading the resume.</a:t>
            </a:r>
          </a:p>
          <a:p>
            <a:pPr marL="285750" indent="-285750">
              <a:buFont typeface="Arial" panose="020B0604020202020204" pitchFamily="34" charset="0"/>
              <a:buChar char="•"/>
            </a:pPr>
            <a:r>
              <a:rPr lang="en-US" sz="2400" dirty="0"/>
              <a:t>The module also enables applicants to save preferred jobs for future reference, and track the status of their applications, such as applied, shortlisted, selected, or rejected.</a:t>
            </a:r>
          </a:p>
          <a:p>
            <a:pPr marL="285750" indent="-285750">
              <a:buFont typeface="Arial" panose="020B0604020202020204" pitchFamily="34" charset="0"/>
              <a:buChar char="•"/>
            </a:pPr>
            <a:r>
              <a:rPr lang="en-IN" sz="2400" dirty="0"/>
              <a:t>Resume management and application history are maintained through relational tables.</a:t>
            </a:r>
          </a:p>
          <a:p>
            <a:pPr marL="285750" indent="-285750">
              <a:buFont typeface="Arial" panose="020B0604020202020204" pitchFamily="34" charset="0"/>
              <a:buChar char="•"/>
            </a:pPr>
            <a:endParaRPr lang="en-IN" sz="2400" dirty="0"/>
          </a:p>
          <a:p>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398140" cy="492443"/>
          </a:xfrm>
          <a:prstGeom prst="rect">
            <a:avLst/>
          </a:prstGeom>
          <a:noFill/>
        </p:spPr>
        <p:txBody>
          <a:bodyPr wrap="none">
            <a:spAutoFit/>
          </a:bodyPr>
          <a:lstStyle/>
          <a:p>
            <a:pPr>
              <a:defRPr sz="2600" b="1">
                <a:solidFill>
                  <a:srgbClr val="FFFFFF"/>
                </a:solidFill>
              </a:defRPr>
            </a:pPr>
            <a:r>
              <a:rPr dirty="0"/>
              <a:t>Modules</a:t>
            </a:r>
          </a:p>
        </p:txBody>
      </p:sp>
      <p:sp>
        <p:nvSpPr>
          <p:cNvPr id="16" name="TextBox 15"/>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7</a:t>
            </a:r>
          </a:p>
        </p:txBody>
      </p:sp>
      <p:sp>
        <p:nvSpPr>
          <p:cNvPr id="17" name="Rectangle 16"/>
          <p:cNvSpPr/>
          <p:nvPr/>
        </p:nvSpPr>
        <p:spPr>
          <a:xfrm>
            <a:off x="502920" y="1395663"/>
            <a:ext cx="11109960" cy="5262979"/>
          </a:xfrm>
          <a:prstGeom prst="rect">
            <a:avLst/>
          </a:prstGeom>
        </p:spPr>
        <p:txBody>
          <a:bodyPr wrap="square">
            <a:spAutoFit/>
          </a:bodyPr>
          <a:lstStyle/>
          <a:p>
            <a:r>
              <a:rPr lang="en-US" sz="2400" dirty="0"/>
              <a:t>2.EMPLOYER</a:t>
            </a:r>
          </a:p>
          <a:p>
            <a:pPr marL="285750" indent="-285750">
              <a:buFont typeface="Arial" panose="020B0604020202020204" pitchFamily="34" charset="0"/>
              <a:buChar char="•"/>
            </a:pPr>
            <a:r>
              <a:rPr lang="en-US" sz="2400" dirty="0"/>
              <a:t>The Employer Module is designed to help recruiters efficiently manage the recruitment process. </a:t>
            </a:r>
          </a:p>
          <a:p>
            <a:pPr marL="285750" indent="-285750">
              <a:buFont typeface="Arial" panose="020B0604020202020204" pitchFamily="34" charset="0"/>
              <a:buChar char="•"/>
            </a:pPr>
            <a:r>
              <a:rPr lang="en-IN" sz="2400" dirty="0"/>
              <a:t>The Employer module enables recruiters to register organizations, post and manage job vacancies, and review applicant profiles.</a:t>
            </a:r>
          </a:p>
          <a:p>
            <a:pPr marL="285750" indent="-285750">
              <a:buFont typeface="Arial" panose="020B0604020202020204" pitchFamily="34" charset="0"/>
              <a:buChar char="•"/>
            </a:pPr>
            <a:r>
              <a:rPr lang="en-US" sz="2400" dirty="0"/>
              <a:t> New job vacancies can be posted with information such as job title, qualifications, salary, experience requirements, and job description. </a:t>
            </a:r>
            <a:endParaRPr lang="en-IN" sz="2400" dirty="0"/>
          </a:p>
          <a:p>
            <a:pPr marL="285750" indent="-285750">
              <a:buFont typeface="Arial" panose="020B0604020202020204" pitchFamily="34" charset="0"/>
              <a:buChar char="•"/>
            </a:pPr>
            <a:r>
              <a:rPr lang="en-IN" sz="2400" dirty="0"/>
              <a:t>Employers can shortlist candidates, update application statuses, and communicate decisions.</a:t>
            </a:r>
          </a:p>
          <a:p>
            <a:pPr marL="285750" indent="-285750">
              <a:buFont typeface="Arial" panose="020B0604020202020204" pitchFamily="34" charset="0"/>
              <a:buChar char="•"/>
            </a:pPr>
            <a:r>
              <a:rPr lang="en-US" sz="2400" dirty="0"/>
              <a:t>The module also allows recruiters to edit, update, or delete job postings whenever necessary.</a:t>
            </a:r>
            <a:r>
              <a:rPr lang="en-IN" sz="2400" dirty="0"/>
              <a:t> </a:t>
            </a:r>
          </a:p>
          <a:p>
            <a:pPr marL="285750" indent="-285750">
              <a:buFont typeface="Arial" panose="020B0604020202020204" pitchFamily="34" charset="0"/>
              <a:buChar char="•"/>
            </a:pPr>
            <a:r>
              <a:rPr lang="en-IN" sz="2400" dirty="0"/>
              <a:t>Database relationships ensure consistency between job postings, employers, and applicants.</a:t>
            </a:r>
          </a:p>
          <a:p>
            <a:pPr marL="742950" lvl="1"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2455048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398140" cy="492443"/>
          </a:xfrm>
          <a:prstGeom prst="rect">
            <a:avLst/>
          </a:prstGeom>
          <a:noFill/>
        </p:spPr>
        <p:txBody>
          <a:bodyPr wrap="none">
            <a:spAutoFit/>
          </a:bodyPr>
          <a:lstStyle/>
          <a:p>
            <a:pPr>
              <a:defRPr sz="2600" b="1">
                <a:solidFill>
                  <a:srgbClr val="FFFFFF"/>
                </a:solidFill>
              </a:defRPr>
            </a:pPr>
            <a:r>
              <a:rPr dirty="0"/>
              <a:t>Modules</a:t>
            </a:r>
          </a:p>
        </p:txBody>
      </p:sp>
      <p:sp>
        <p:nvSpPr>
          <p:cNvPr id="16" name="TextBox 15"/>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7</a:t>
            </a:r>
          </a:p>
        </p:txBody>
      </p:sp>
      <p:sp>
        <p:nvSpPr>
          <p:cNvPr id="17" name="Rectangle 16"/>
          <p:cNvSpPr/>
          <p:nvPr/>
        </p:nvSpPr>
        <p:spPr>
          <a:xfrm>
            <a:off x="502920" y="1395663"/>
            <a:ext cx="11109960" cy="3416320"/>
          </a:xfrm>
          <a:prstGeom prst="rect">
            <a:avLst/>
          </a:prstGeom>
        </p:spPr>
        <p:txBody>
          <a:bodyPr wrap="square">
            <a:spAutoFit/>
          </a:bodyPr>
          <a:lstStyle/>
          <a:p>
            <a:r>
              <a:rPr lang="en-US" sz="2400" dirty="0"/>
              <a:t>3.ADMIN</a:t>
            </a:r>
          </a:p>
          <a:p>
            <a:pPr marL="285750" indent="-285750">
              <a:buFont typeface="Arial" panose="020B0604020202020204" pitchFamily="34" charset="0"/>
              <a:buChar char="•"/>
            </a:pPr>
            <a:r>
              <a:rPr lang="en-US" sz="2400" dirty="0"/>
              <a:t>The Admin Module is responsible for controlling and managing the overall functionality of the job portal system.</a:t>
            </a:r>
          </a:p>
          <a:p>
            <a:pPr marL="285750" indent="-285750">
              <a:buFont typeface="Arial" panose="020B0604020202020204" pitchFamily="34" charset="0"/>
              <a:buChar char="•"/>
            </a:pPr>
            <a:r>
              <a:rPr lang="en-US" sz="2400" dirty="0"/>
              <a:t>This module allows administrators to securely log in and monitor the activities of both job seekers and employers</a:t>
            </a:r>
          </a:p>
          <a:p>
            <a:pPr marL="285750" indent="-285750">
              <a:buFont typeface="Arial" panose="020B0604020202020204" pitchFamily="34" charset="0"/>
              <a:buChar char="•"/>
            </a:pPr>
            <a:r>
              <a:rPr lang="en-US" sz="2400" dirty="0"/>
              <a:t>Administrators can manage user accounts, verify and approve job postings, remove fake or inappropriate job listings, and ensure that the platform operates smoothly and securely.</a:t>
            </a:r>
          </a:p>
          <a:p>
            <a:pPr lvl="1"/>
            <a:endParaRPr lang="en-US" sz="2400" dirty="0"/>
          </a:p>
        </p:txBody>
      </p:sp>
    </p:spTree>
    <p:extLst>
      <p:ext uri="{BB962C8B-B14F-4D97-AF65-F5344CB8AC3E}">
        <p14:creationId xmlns:p14="http://schemas.microsoft.com/office/powerpoint/2010/main" val="3092061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90057" y="2248678"/>
            <a:ext cx="7740377" cy="1754326"/>
          </a:xfrm>
          <a:prstGeom prst="rect">
            <a:avLst/>
          </a:prstGeom>
        </p:spPr>
        <p:txBody>
          <a:bodyPr wrap="square">
            <a:spAutoFit/>
          </a:bodyPr>
          <a:lstStyle/>
          <a:p>
            <a:pPr algn="ctr"/>
            <a:r>
              <a:rPr lang="en-US" sz="5400" b="1" dirty="0"/>
              <a:t>System Design –</a:t>
            </a:r>
          </a:p>
          <a:p>
            <a:pPr algn="ctr"/>
            <a:r>
              <a:rPr lang="en-US" sz="5400" b="1" dirty="0"/>
              <a:t> Use Case Diagram</a:t>
            </a:r>
          </a:p>
        </p:txBody>
      </p:sp>
    </p:spTree>
    <p:extLst>
      <p:ext uri="{BB962C8B-B14F-4D97-AF65-F5344CB8AC3E}">
        <p14:creationId xmlns:p14="http://schemas.microsoft.com/office/powerpoint/2010/main" val="35136704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4973349" cy="492443"/>
          </a:xfrm>
          <a:prstGeom prst="rect">
            <a:avLst/>
          </a:prstGeom>
          <a:noFill/>
        </p:spPr>
        <p:txBody>
          <a:bodyPr wrap="none">
            <a:spAutoFit/>
          </a:bodyPr>
          <a:lstStyle/>
          <a:p>
            <a:pPr>
              <a:defRPr sz="2600" b="1">
                <a:solidFill>
                  <a:srgbClr val="FFFFFF"/>
                </a:solidFill>
              </a:defRPr>
            </a:pPr>
            <a:r>
              <a:rPr dirty="0"/>
              <a:t>System Design – Use Case Diagram</a:t>
            </a:r>
          </a:p>
        </p:txBody>
      </p:sp>
      <p:sp>
        <p:nvSpPr>
          <p:cNvPr id="27" name="TextBox 26"/>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8</a:t>
            </a:r>
          </a:p>
        </p:txBody>
      </p:sp>
      <p:pic>
        <p:nvPicPr>
          <p:cNvPr id="31" name="Picture 30">
            <a:extLst>
              <a:ext uri="{FF2B5EF4-FFF2-40B4-BE49-F238E27FC236}">
                <a16:creationId xmlns:a16="http://schemas.microsoft.com/office/drawing/2014/main" id="{14FC45FD-5BC5-19FB-8EC0-0A7BAC0326A8}"/>
              </a:ext>
            </a:extLst>
          </p:cNvPr>
          <p:cNvPicPr>
            <a:picLocks noChangeAspect="1"/>
          </p:cNvPicPr>
          <p:nvPr/>
        </p:nvPicPr>
        <p:blipFill>
          <a:blip r:embed="rId2"/>
          <a:stretch>
            <a:fillRect/>
          </a:stretch>
        </p:blipFill>
        <p:spPr>
          <a:xfrm>
            <a:off x="3419066" y="658368"/>
            <a:ext cx="5353868" cy="619963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51314" y="2881900"/>
            <a:ext cx="7147249" cy="923330"/>
          </a:xfrm>
          <a:prstGeom prst="rect">
            <a:avLst/>
          </a:prstGeom>
        </p:spPr>
        <p:txBody>
          <a:bodyPr wrap="square">
            <a:spAutoFit/>
          </a:bodyPr>
          <a:lstStyle/>
          <a:p>
            <a:pPr algn="ctr">
              <a:defRPr sz="2600" b="1">
                <a:solidFill>
                  <a:srgbClr val="FFFFFF"/>
                </a:solidFill>
              </a:defRPr>
            </a:pPr>
            <a:r>
              <a:rPr lang="en-IN" sz="5400" dirty="0">
                <a:solidFill>
                  <a:schemeClr val="tx1">
                    <a:lumMod val="95000"/>
                    <a:lumOff val="5000"/>
                  </a:schemeClr>
                </a:solidFill>
              </a:rPr>
              <a:t>Use Case Specification</a:t>
            </a:r>
          </a:p>
        </p:txBody>
      </p:sp>
    </p:spTree>
    <p:extLst>
      <p:ext uri="{BB962C8B-B14F-4D97-AF65-F5344CB8AC3E}">
        <p14:creationId xmlns:p14="http://schemas.microsoft.com/office/powerpoint/2010/main" val="1099058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43449" y="-78921"/>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5683" y="143958"/>
            <a:ext cx="10972800" cy="384048"/>
          </a:xfrm>
          <a:prstGeom prst="rect">
            <a:avLst/>
          </a:prstGeom>
          <a:noFill/>
        </p:spPr>
        <p:txBody>
          <a:bodyPr wrap="none">
            <a:spAutoFit/>
          </a:bodyPr>
          <a:lstStyle/>
          <a:p>
            <a:pPr>
              <a:defRPr sz="2600" b="1">
                <a:solidFill>
                  <a:srgbClr val="FFFFFF"/>
                </a:solidFill>
              </a:defRPr>
            </a:pPr>
            <a:r>
              <a:rPr dirty="0"/>
              <a:t>8. Use Case Specification</a:t>
            </a:r>
          </a:p>
        </p:txBody>
      </p:sp>
      <p:sp>
        <p:nvSpPr>
          <p:cNvPr id="35" name="TextBox 3">
            <a:extLst>
              <a:ext uri="{FF2B5EF4-FFF2-40B4-BE49-F238E27FC236}">
                <a16:creationId xmlns:a16="http://schemas.microsoft.com/office/drawing/2014/main" id="{D94ECFF1-4E76-2E8E-E56D-78FFCAE143F5}"/>
              </a:ext>
            </a:extLst>
          </p:cNvPr>
          <p:cNvSpPr txBox="1"/>
          <p:nvPr/>
        </p:nvSpPr>
        <p:spPr>
          <a:xfrm>
            <a:off x="541020" y="968035"/>
            <a:ext cx="3043555" cy="284693"/>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b="1"/>
            </a:pPr>
            <a:r>
              <a:rPr dirty="0"/>
              <a:t>UC-01: Register &amp; Login</a:t>
            </a:r>
          </a:p>
        </p:txBody>
      </p:sp>
      <p:sp>
        <p:nvSpPr>
          <p:cNvPr id="36" name="TextBox 4">
            <a:extLst>
              <a:ext uri="{FF2B5EF4-FFF2-40B4-BE49-F238E27FC236}">
                <a16:creationId xmlns:a16="http://schemas.microsoft.com/office/drawing/2014/main" id="{6FCDE99C-1F1B-BA0B-5EE3-17C45169A967}"/>
              </a:ext>
            </a:extLst>
          </p:cNvPr>
          <p:cNvSpPr txBox="1"/>
          <p:nvPr/>
        </p:nvSpPr>
        <p:spPr>
          <a:xfrm>
            <a:off x="541020" y="1737360"/>
            <a:ext cx="3246120" cy="228781"/>
          </a:xfrm>
          <a:prstGeom prst="rect">
            <a:avLst/>
          </a:prstGeom>
          <a:noFill/>
        </p:spPr>
        <p:txBody>
          <a:bodyPr wrap="square" lIns="63500" tIns="50800" rIns="63500" bIns="5080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sz="820" dirty="0"/>
              <a:t>.</a:t>
            </a:r>
          </a:p>
        </p:txBody>
      </p:sp>
      <p:sp>
        <p:nvSpPr>
          <p:cNvPr id="37" name="TextBox 5">
            <a:extLst>
              <a:ext uri="{FF2B5EF4-FFF2-40B4-BE49-F238E27FC236}">
                <a16:creationId xmlns:a16="http://schemas.microsoft.com/office/drawing/2014/main" id="{0E49F59F-6D01-4265-8774-6D861DFD40CE}"/>
              </a:ext>
            </a:extLst>
          </p:cNvPr>
          <p:cNvSpPr txBox="1"/>
          <p:nvPr/>
        </p:nvSpPr>
        <p:spPr>
          <a:xfrm>
            <a:off x="8221084" y="1044737"/>
            <a:ext cx="3246120" cy="475488"/>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b="1"/>
            </a:pPr>
            <a:r>
              <a:rPr dirty="0"/>
              <a:t>UC-02: Verify Credentials</a:t>
            </a:r>
          </a:p>
        </p:txBody>
      </p:sp>
      <p:sp>
        <p:nvSpPr>
          <p:cNvPr id="41" name="TextBox 9">
            <a:extLst>
              <a:ext uri="{FF2B5EF4-FFF2-40B4-BE49-F238E27FC236}">
                <a16:creationId xmlns:a16="http://schemas.microsoft.com/office/drawing/2014/main" id="{9C3CB958-3029-5209-7659-5A7CD8EAAC0C}"/>
              </a:ext>
            </a:extLst>
          </p:cNvPr>
          <p:cNvSpPr txBox="1"/>
          <p:nvPr/>
        </p:nvSpPr>
        <p:spPr>
          <a:xfrm>
            <a:off x="10919460" y="6492240"/>
            <a:ext cx="731520" cy="22860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900"/>
            </a:pPr>
            <a:r>
              <a:t>25</a:t>
            </a:r>
          </a:p>
        </p:txBody>
      </p:sp>
      <p:graphicFrame>
        <p:nvGraphicFramePr>
          <p:cNvPr id="7" name="Table 6">
            <a:extLst>
              <a:ext uri="{FF2B5EF4-FFF2-40B4-BE49-F238E27FC236}">
                <a16:creationId xmlns:a16="http://schemas.microsoft.com/office/drawing/2014/main" id="{C19ED97F-5176-9AF2-93C2-AAC2AA9CCE02}"/>
              </a:ext>
            </a:extLst>
          </p:cNvPr>
          <p:cNvGraphicFramePr>
            <a:graphicFrameLocks noGrp="1"/>
          </p:cNvGraphicFramePr>
          <p:nvPr>
            <p:extLst>
              <p:ext uri="{D42A27DB-BD31-4B8C-83A1-F6EECF244321}">
                <p14:modId xmlns:p14="http://schemas.microsoft.com/office/powerpoint/2010/main" val="526882152"/>
              </p:ext>
            </p:extLst>
          </p:nvPr>
        </p:nvGraphicFramePr>
        <p:xfrm>
          <a:off x="124187" y="1364005"/>
          <a:ext cx="4054785" cy="4525960"/>
        </p:xfrm>
        <a:graphic>
          <a:graphicData uri="http://schemas.openxmlformats.org/drawingml/2006/table">
            <a:tbl>
              <a:tblPr firstRow="1" firstCol="1" bandRow="1">
                <a:tableStyleId>{5C22544A-7EE6-4342-B048-85BDC9FD1C3A}</a:tableStyleId>
              </a:tblPr>
              <a:tblGrid>
                <a:gridCol w="767879">
                  <a:extLst>
                    <a:ext uri="{9D8B030D-6E8A-4147-A177-3AD203B41FA5}">
                      <a16:colId xmlns:a16="http://schemas.microsoft.com/office/drawing/2014/main" val="1833529912"/>
                    </a:ext>
                  </a:extLst>
                </a:gridCol>
                <a:gridCol w="3286906">
                  <a:extLst>
                    <a:ext uri="{9D8B030D-6E8A-4147-A177-3AD203B41FA5}">
                      <a16:colId xmlns:a16="http://schemas.microsoft.com/office/drawing/2014/main" val="1812432140"/>
                    </a:ext>
                  </a:extLst>
                </a:gridCol>
              </a:tblGrid>
              <a:tr h="122783">
                <a:tc>
                  <a:txBody>
                    <a:bodyPr/>
                    <a:lstStyle/>
                    <a:p>
                      <a:pPr>
                        <a:lnSpc>
                          <a:spcPct val="115000"/>
                        </a:lnSpc>
                        <a:spcAft>
                          <a:spcPts val="1000"/>
                        </a:spcAft>
                        <a:buNone/>
                      </a:pPr>
                      <a:r>
                        <a:rPr lang="en-US" sz="700">
                          <a:effectLst/>
                        </a:rPr>
                        <a:t>ID</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a:effectLst/>
                        </a:rPr>
                        <a:t>UC-01</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1594963673"/>
                  </a:ext>
                </a:extLst>
              </a:tr>
              <a:tr h="122783">
                <a:tc>
                  <a:txBody>
                    <a:bodyPr/>
                    <a:lstStyle/>
                    <a:p>
                      <a:pPr>
                        <a:lnSpc>
                          <a:spcPct val="115000"/>
                        </a:lnSpc>
                        <a:spcAft>
                          <a:spcPts val="1000"/>
                        </a:spcAft>
                        <a:buNone/>
                      </a:pPr>
                      <a:r>
                        <a:rPr lang="en-US" sz="700">
                          <a:effectLst/>
                        </a:rPr>
                        <a:t>Brief Description</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a:effectLst/>
                        </a:rPr>
                        <a:t>The job seekers and employers can register and login to their profiles.</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2726518366"/>
                  </a:ext>
                </a:extLst>
              </a:tr>
              <a:tr h="122783">
                <a:tc>
                  <a:txBody>
                    <a:bodyPr/>
                    <a:lstStyle/>
                    <a:p>
                      <a:pPr>
                        <a:lnSpc>
                          <a:spcPct val="115000"/>
                        </a:lnSpc>
                        <a:spcAft>
                          <a:spcPts val="1000"/>
                        </a:spcAft>
                        <a:buNone/>
                      </a:pPr>
                      <a:r>
                        <a:rPr lang="en-US" sz="700">
                          <a:effectLst/>
                        </a:rPr>
                        <a:t>Primary Actor</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a:effectLst/>
                        </a:rPr>
                        <a:t>Public User</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504483678"/>
                  </a:ext>
                </a:extLst>
              </a:tr>
              <a:tr h="122783">
                <a:tc>
                  <a:txBody>
                    <a:bodyPr/>
                    <a:lstStyle/>
                    <a:p>
                      <a:pPr>
                        <a:lnSpc>
                          <a:spcPct val="115000"/>
                        </a:lnSpc>
                        <a:spcAft>
                          <a:spcPts val="1000"/>
                        </a:spcAft>
                        <a:buNone/>
                      </a:pPr>
                      <a:r>
                        <a:rPr lang="en-US" sz="700">
                          <a:effectLst/>
                        </a:rPr>
                        <a:t>Secondary Actor</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a:effectLst/>
                        </a:rPr>
                        <a:t>None</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1207380077"/>
                  </a:ext>
                </a:extLst>
              </a:tr>
              <a:tr h="647775">
                <a:tc>
                  <a:txBody>
                    <a:bodyPr/>
                    <a:lstStyle/>
                    <a:p>
                      <a:pPr>
                        <a:lnSpc>
                          <a:spcPct val="115000"/>
                        </a:lnSpc>
                        <a:spcAft>
                          <a:spcPts val="1000"/>
                        </a:spcAft>
                        <a:buNone/>
                      </a:pPr>
                      <a:r>
                        <a:rPr lang="en-US" sz="700">
                          <a:effectLst/>
                        </a:rPr>
                        <a:t>Preconditions</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a:effectLst/>
                        </a:rPr>
                        <a:t>1. The user is not already registered with the provided email address (for registration).</a:t>
                      </a:r>
                      <a:br>
                        <a:rPr lang="en-US" sz="700">
                          <a:effectLst/>
                        </a:rPr>
                      </a:br>
                      <a:r>
                        <a:rPr lang="en-US" sz="700">
                          <a:effectLst/>
                        </a:rPr>
                        <a:t>2. The user has a valid email address and internet connection.</a:t>
                      </a:r>
                      <a:br>
                        <a:rPr lang="en-US" sz="700">
                          <a:effectLst/>
                        </a:rPr>
                      </a:br>
                      <a:r>
                        <a:rPr lang="en-US" sz="700">
                          <a:effectLst/>
                        </a:rPr>
                        <a:t>3. The user has already registered an account (for login).</a:t>
                      </a:r>
                      <a:br>
                        <a:rPr lang="en-US" sz="700">
                          <a:effectLst/>
                        </a:rPr>
                      </a:br>
                      <a:r>
                        <a:rPr lang="en-US" sz="700">
                          <a:effectLst/>
                        </a:rPr>
                        <a:t>4. The user's account is active (for login).</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124669968"/>
                  </a:ext>
                </a:extLst>
              </a:tr>
              <a:tr h="2353999">
                <a:tc>
                  <a:txBody>
                    <a:bodyPr/>
                    <a:lstStyle/>
                    <a:p>
                      <a:pPr>
                        <a:lnSpc>
                          <a:spcPct val="115000"/>
                        </a:lnSpc>
                        <a:spcAft>
                          <a:spcPts val="1000"/>
                        </a:spcAft>
                        <a:buNone/>
                      </a:pPr>
                      <a:r>
                        <a:rPr lang="en-US" sz="700">
                          <a:effectLst/>
                        </a:rPr>
                        <a:t>Main Flow</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a:effectLst/>
                        </a:rPr>
                        <a:t>REGISTER:</a:t>
                      </a:r>
                      <a:br>
                        <a:rPr lang="en-US" sz="700">
                          <a:effectLst/>
                        </a:rPr>
                      </a:br>
                      <a:r>
                        <a:rPr lang="en-US" sz="700">
                          <a:effectLst/>
                        </a:rPr>
                        <a:t>1. The user opens the job portal and clicks the Register button.</a:t>
                      </a:r>
                      <a:br>
                        <a:rPr lang="en-US" sz="700">
                          <a:effectLst/>
                        </a:rPr>
                      </a:br>
                      <a:r>
                        <a:rPr lang="en-US" sz="700">
                          <a:effectLst/>
                        </a:rPr>
                        <a:t>2. The system displays the registration form.</a:t>
                      </a:r>
                      <a:br>
                        <a:rPr lang="en-US" sz="700">
                          <a:effectLst/>
                        </a:rPr>
                      </a:br>
                      <a:r>
                        <a:rPr lang="en-US" sz="700">
                          <a:effectLst/>
                        </a:rPr>
                        <a:t>3. The user enters the required details (name, email, password, role) and clicks the Sign Up / Register button.</a:t>
                      </a:r>
                      <a:br>
                        <a:rPr lang="en-US" sz="700">
                          <a:effectLst/>
                        </a:rPr>
                      </a:br>
                      <a:r>
                        <a:rPr lang="en-US" sz="700">
                          <a:effectLst/>
                        </a:rPr>
                        <a:t>4. The system validates the entered information via Verify Credentials (&lt;&lt;include&gt;&gt;).</a:t>
                      </a:r>
                      <a:br>
                        <a:rPr lang="en-US" sz="700">
                          <a:effectLst/>
                        </a:rPr>
                      </a:br>
                      <a:r>
                        <a:rPr lang="en-US" sz="700">
                          <a:effectLst/>
                        </a:rPr>
                        <a:t>5. The system creates a new user account.</a:t>
                      </a:r>
                      <a:br>
                        <a:rPr lang="en-US" sz="700">
                          <a:effectLst/>
                        </a:rPr>
                      </a:br>
                      <a:r>
                        <a:rPr lang="en-US" sz="700">
                          <a:effectLst/>
                        </a:rPr>
                        <a:t>6. The user is redirected to the login page (or logged in automatically).</a:t>
                      </a:r>
                      <a:br>
                        <a:rPr lang="en-US" sz="700">
                          <a:effectLst/>
                        </a:rPr>
                      </a:br>
                      <a:br>
                        <a:rPr lang="en-US" sz="700">
                          <a:effectLst/>
                        </a:rPr>
                      </a:br>
                      <a:r>
                        <a:rPr lang="en-US" sz="700">
                          <a:effectLst/>
                        </a:rPr>
                        <a:t>LOGIN:</a:t>
                      </a:r>
                      <a:br>
                        <a:rPr lang="en-US" sz="700">
                          <a:effectLst/>
                        </a:rPr>
                      </a:br>
                      <a:r>
                        <a:rPr lang="en-US" sz="700">
                          <a:effectLst/>
                        </a:rPr>
                        <a:t>1. The user opens the job portal and clicks the Login button.</a:t>
                      </a:r>
                      <a:br>
                        <a:rPr lang="en-US" sz="700">
                          <a:effectLst/>
                        </a:rPr>
                      </a:br>
                      <a:r>
                        <a:rPr lang="en-US" sz="700">
                          <a:effectLst/>
                        </a:rPr>
                        <a:t>2. The system displays the login form.</a:t>
                      </a:r>
                      <a:br>
                        <a:rPr lang="en-US" sz="700">
                          <a:effectLst/>
                        </a:rPr>
                      </a:br>
                      <a:r>
                        <a:rPr lang="en-US" sz="700">
                          <a:effectLst/>
                        </a:rPr>
                        <a:t>3. The user enters the registered email and password and clicks the Login button.</a:t>
                      </a:r>
                      <a:br>
                        <a:rPr lang="en-US" sz="700">
                          <a:effectLst/>
                        </a:rPr>
                      </a:br>
                      <a:r>
                        <a:rPr lang="en-US" sz="700">
                          <a:effectLst/>
                        </a:rPr>
                        <a:t>4. The system validates the credentials via Verify Credentials (&lt;&lt;include&gt;&gt;).</a:t>
                      </a:r>
                      <a:br>
                        <a:rPr lang="en-US" sz="700">
                          <a:effectLst/>
                        </a:rPr>
                      </a:br>
                      <a:r>
                        <a:rPr lang="en-US" sz="700">
                          <a:effectLst/>
                        </a:rPr>
                        <a:t>5. The system authenticates the user.</a:t>
                      </a:r>
                      <a:br>
                        <a:rPr lang="en-US" sz="700">
                          <a:effectLst/>
                        </a:rPr>
                      </a:br>
                      <a:r>
                        <a:rPr lang="en-US" sz="700">
                          <a:effectLst/>
                        </a:rPr>
                        <a:t>6. The system redirects the user to the dashboard / home page based on their role.</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2613827297"/>
                  </a:ext>
                </a:extLst>
              </a:tr>
              <a:tr h="516527">
                <a:tc>
                  <a:txBody>
                    <a:bodyPr/>
                    <a:lstStyle/>
                    <a:p>
                      <a:pPr>
                        <a:lnSpc>
                          <a:spcPct val="115000"/>
                        </a:lnSpc>
                        <a:spcAft>
                          <a:spcPts val="1000"/>
                        </a:spcAft>
                        <a:buNone/>
                      </a:pPr>
                      <a:r>
                        <a:rPr lang="en-US" sz="700">
                          <a:effectLst/>
                        </a:rPr>
                        <a:t>Post Conditions</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a:effectLst/>
                        </a:rPr>
                        <a:t>REGISTER: A new user account is successfully created in the system.</a:t>
                      </a:r>
                      <a:br>
                        <a:rPr lang="en-US" sz="700">
                          <a:effectLst/>
                        </a:rPr>
                      </a:br>
                      <a:br>
                        <a:rPr lang="en-US" sz="700">
                          <a:effectLst/>
                        </a:rPr>
                      </a:br>
                      <a:r>
                        <a:rPr lang="en-US" sz="700">
                          <a:effectLst/>
                        </a:rPr>
                        <a:t>LOGIN: The user is successfully authenticated and redirected to their respective dashboard.</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1021876742"/>
                  </a:ext>
                </a:extLst>
              </a:tr>
              <a:tr h="516527">
                <a:tc>
                  <a:txBody>
                    <a:bodyPr/>
                    <a:lstStyle/>
                    <a:p>
                      <a:pPr>
                        <a:lnSpc>
                          <a:spcPct val="115000"/>
                        </a:lnSpc>
                        <a:spcAft>
                          <a:spcPts val="1000"/>
                        </a:spcAft>
                        <a:buNone/>
                      </a:pPr>
                      <a:r>
                        <a:rPr lang="en-US" sz="700">
                          <a:effectLst/>
                        </a:rPr>
                        <a:t>Alternative Flows</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dirty="0">
                          <a:effectLst/>
                        </a:rPr>
                        <a:t>1. If the email is already registered, the system displays an error message.</a:t>
                      </a:r>
                      <a:br>
                        <a:rPr lang="en-US" sz="700" dirty="0">
                          <a:effectLst/>
                        </a:rPr>
                      </a:br>
                      <a:r>
                        <a:rPr lang="en-US" sz="700" dirty="0">
                          <a:effectLst/>
                        </a:rPr>
                        <a:t>2. If credentials are invalid, the system displays an authentication failure message.</a:t>
                      </a:r>
                      <a:br>
                        <a:rPr lang="en-US" sz="700" dirty="0">
                          <a:effectLst/>
                        </a:rPr>
                      </a:br>
                      <a:r>
                        <a:rPr lang="en-US" sz="700" dirty="0">
                          <a:effectLst/>
                        </a:rPr>
                        <a:t>3. If the account is locked or inactive, the system denies access and notifies the user.</a:t>
                      </a:r>
                      <a:endParaRPr lang="en-IN" sz="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2260238134"/>
                  </a:ext>
                </a:extLst>
              </a:tr>
            </a:tbl>
          </a:graphicData>
        </a:graphic>
      </p:graphicFrame>
      <p:graphicFrame>
        <p:nvGraphicFramePr>
          <p:cNvPr id="10" name="Table 9">
            <a:extLst>
              <a:ext uri="{FF2B5EF4-FFF2-40B4-BE49-F238E27FC236}">
                <a16:creationId xmlns:a16="http://schemas.microsoft.com/office/drawing/2014/main" id="{F4D2409A-23C8-49BD-3D55-FF7ABCCC304D}"/>
              </a:ext>
            </a:extLst>
          </p:cNvPr>
          <p:cNvGraphicFramePr>
            <a:graphicFrameLocks noGrp="1"/>
          </p:cNvGraphicFramePr>
          <p:nvPr>
            <p:extLst>
              <p:ext uri="{D42A27DB-BD31-4B8C-83A1-F6EECF244321}">
                <p14:modId xmlns:p14="http://schemas.microsoft.com/office/powerpoint/2010/main" val="294266084"/>
              </p:ext>
            </p:extLst>
          </p:nvPr>
        </p:nvGraphicFramePr>
        <p:xfrm>
          <a:off x="5250180" y="1520225"/>
          <a:ext cx="6400800" cy="4369736"/>
        </p:xfrm>
        <a:graphic>
          <a:graphicData uri="http://schemas.openxmlformats.org/drawingml/2006/table">
            <a:tbl>
              <a:tblPr firstRow="1" firstCol="1" bandRow="1">
                <a:tableStyleId>{5C22544A-7EE6-4342-B048-85BDC9FD1C3A}</a:tableStyleId>
              </a:tblPr>
              <a:tblGrid>
                <a:gridCol w="2011680">
                  <a:extLst>
                    <a:ext uri="{9D8B030D-6E8A-4147-A177-3AD203B41FA5}">
                      <a16:colId xmlns:a16="http://schemas.microsoft.com/office/drawing/2014/main" val="1054683333"/>
                    </a:ext>
                  </a:extLst>
                </a:gridCol>
                <a:gridCol w="4389120">
                  <a:extLst>
                    <a:ext uri="{9D8B030D-6E8A-4147-A177-3AD203B41FA5}">
                      <a16:colId xmlns:a16="http://schemas.microsoft.com/office/drawing/2014/main" val="1630498943"/>
                    </a:ext>
                  </a:extLst>
                </a:gridCol>
              </a:tblGrid>
              <a:tr h="246245">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UC-02</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78602390"/>
                  </a:ext>
                </a:extLst>
              </a:tr>
              <a:tr h="246245">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Validates user credentials during registration and login processes.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23499199"/>
                  </a:ext>
                </a:extLst>
              </a:tr>
              <a:tr h="246245">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System</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27519339"/>
                  </a:ext>
                </a:extLst>
              </a:tr>
              <a:tr h="246245">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91897449"/>
                  </a:ext>
                </a:extLst>
              </a:tr>
              <a:tr h="246245">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user has submitted credentials for registration or login.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00539413"/>
                  </a:ext>
                </a:extLst>
              </a:tr>
              <a:tr h="1562353">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system receives the entered email and password.</a:t>
                      </a:r>
                      <a:br>
                        <a:rPr lang="en-US" sz="1000">
                          <a:effectLst/>
                        </a:rPr>
                      </a:br>
                      <a:r>
                        <a:rPr lang="en-US" sz="1000">
                          <a:effectLst/>
                        </a:rPr>
                        <a:t>2. The system validates the email format and password strength (for registration).</a:t>
                      </a:r>
                      <a:br>
                        <a:rPr lang="en-US" sz="1000">
                          <a:effectLst/>
                        </a:rPr>
                      </a:br>
                      <a:r>
                        <a:rPr lang="en-US" sz="1000">
                          <a:effectLst/>
                        </a:rPr>
                        <a:t>3. The system checks if the email already exists (for registration) or matches existing records (for login).</a:t>
                      </a:r>
                      <a:br>
                        <a:rPr lang="en-US" sz="1000">
                          <a:effectLst/>
                        </a:rPr>
                      </a:br>
                      <a:r>
                        <a:rPr lang="en-US" sz="1000">
                          <a:effectLst/>
                        </a:rPr>
                        <a:t>4. The system verifies the password hash against the stored value (for login).</a:t>
                      </a:r>
                      <a:br>
                        <a:rPr lang="en-US" sz="1000">
                          <a:effectLst/>
                        </a:rPr>
                      </a:br>
                      <a:r>
                        <a:rPr lang="en-US" sz="1000">
                          <a:effectLst/>
                        </a:rPr>
                        <a:t>5. The system returns a verification status to the calling use case.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10159663"/>
                  </a:ext>
                </a:extLst>
              </a:tr>
              <a:tr h="803469">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Credentials are validated successfully, or an appropriate error is returned.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26355571"/>
                  </a:ext>
                </a:extLst>
              </a:tr>
              <a:tr h="772689">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Invalid email format → prompt user to re-enter.</a:t>
                      </a:r>
                      <a:br>
                        <a:rPr lang="en-US" sz="1000" dirty="0">
                          <a:effectLst/>
                        </a:rPr>
                      </a:br>
                      <a:r>
                        <a:rPr lang="en-US" sz="1000" dirty="0">
                          <a:effectLst/>
                        </a:rPr>
                        <a:t>2. Weak password → prompt for stronger password.</a:t>
                      </a:r>
                      <a:br>
                        <a:rPr lang="en-US" sz="1000" dirty="0">
                          <a:effectLst/>
                        </a:rPr>
                      </a:br>
                      <a:r>
                        <a:rPr lang="en-US" sz="1000" dirty="0">
                          <a:effectLst/>
                        </a:rPr>
                        <a:t>3. Incorrect credentials → deny access.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213956"/>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9">
            <a:extLst>
              <a:ext uri="{FF2B5EF4-FFF2-40B4-BE49-F238E27FC236}">
                <a16:creationId xmlns:a16="http://schemas.microsoft.com/office/drawing/2014/main" id="{8348BB2E-346E-A746-1642-B7298389E1B5}"/>
              </a:ext>
            </a:extLst>
          </p:cNvPr>
          <p:cNvSpPr txBox="1"/>
          <p:nvPr/>
        </p:nvSpPr>
        <p:spPr>
          <a:xfrm>
            <a:off x="10919460" y="6492240"/>
            <a:ext cx="731520" cy="22860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900"/>
            </a:pPr>
            <a:r>
              <a:t>26</a:t>
            </a:r>
          </a:p>
        </p:txBody>
      </p:sp>
      <p:graphicFrame>
        <p:nvGraphicFramePr>
          <p:cNvPr id="3" name="Table 2">
            <a:extLst>
              <a:ext uri="{FF2B5EF4-FFF2-40B4-BE49-F238E27FC236}">
                <a16:creationId xmlns:a16="http://schemas.microsoft.com/office/drawing/2014/main" id="{4CFD1C08-2A34-3765-6800-FCAB73604514}"/>
              </a:ext>
            </a:extLst>
          </p:cNvPr>
          <p:cNvGraphicFramePr>
            <a:graphicFrameLocks noGrp="1"/>
          </p:cNvGraphicFramePr>
          <p:nvPr>
            <p:extLst>
              <p:ext uri="{D42A27DB-BD31-4B8C-83A1-F6EECF244321}">
                <p14:modId xmlns:p14="http://schemas.microsoft.com/office/powerpoint/2010/main" val="3575551871"/>
              </p:ext>
            </p:extLst>
          </p:nvPr>
        </p:nvGraphicFramePr>
        <p:xfrm>
          <a:off x="118335" y="1034097"/>
          <a:ext cx="5977666" cy="4378244"/>
        </p:xfrm>
        <a:graphic>
          <a:graphicData uri="http://schemas.openxmlformats.org/drawingml/2006/table">
            <a:tbl>
              <a:tblPr firstRow="1" firstCol="1" bandRow="1">
                <a:tableStyleId>{5C22544A-7EE6-4342-B048-85BDC9FD1C3A}</a:tableStyleId>
              </a:tblPr>
              <a:tblGrid>
                <a:gridCol w="1878695">
                  <a:extLst>
                    <a:ext uri="{9D8B030D-6E8A-4147-A177-3AD203B41FA5}">
                      <a16:colId xmlns:a16="http://schemas.microsoft.com/office/drawing/2014/main" val="3651215134"/>
                    </a:ext>
                  </a:extLst>
                </a:gridCol>
                <a:gridCol w="4098971">
                  <a:extLst>
                    <a:ext uri="{9D8B030D-6E8A-4147-A177-3AD203B41FA5}">
                      <a16:colId xmlns:a16="http://schemas.microsoft.com/office/drawing/2014/main" val="90360760"/>
                    </a:ext>
                  </a:extLst>
                </a:gridCol>
              </a:tblGrid>
              <a:tr h="190647">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UC-03</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58923383"/>
                  </a:ext>
                </a:extLst>
              </a:tr>
              <a:tr h="598228">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a job seeker to access and view their personalized dashboard after logging into the system. The dashboard displays profile information, job recommendations, applied jobs, saved jobs, and notifications.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897486537"/>
                  </a:ext>
                </a:extLst>
              </a:tr>
              <a:tr h="190647">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Job Seeker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59618646"/>
                  </a:ext>
                </a:extLst>
              </a:tr>
              <a:tr h="190647">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13436756"/>
                  </a:ext>
                </a:extLst>
              </a:tr>
              <a:tr h="598228">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seeker is registered.</a:t>
                      </a:r>
                      <a:br>
                        <a:rPr lang="en-US" sz="1000">
                          <a:effectLst/>
                        </a:rPr>
                      </a:br>
                      <a:r>
                        <a:rPr lang="en-US" sz="1000">
                          <a:effectLst/>
                        </a:rPr>
                        <a:t>2. The job seeker is logged in successfully.</a:t>
                      </a:r>
                      <a:br>
                        <a:rPr lang="en-US" sz="1000">
                          <a:effectLst/>
                        </a:rPr>
                      </a:br>
                      <a:r>
                        <a:rPr lang="en-US" sz="1000">
                          <a:effectLst/>
                        </a:rPr>
                        <a:t>3. The system is operational and connected to the database.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79814077"/>
                  </a:ext>
                </a:extLst>
              </a:tr>
              <a:tr h="1413390">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The job seeker logs into the system.</a:t>
                      </a:r>
                      <a:br>
                        <a:rPr lang="en-US" sz="1000" dirty="0">
                          <a:effectLst/>
                        </a:rPr>
                      </a:br>
                      <a:r>
                        <a:rPr lang="en-US" sz="1000" dirty="0">
                          <a:effectLst/>
                        </a:rPr>
                        <a:t>2. The system retrieves the job seeker's profile and dashboard data from the database.</a:t>
                      </a:r>
                      <a:br>
                        <a:rPr lang="en-US" sz="1000" dirty="0">
                          <a:effectLst/>
                        </a:rPr>
                      </a:br>
                      <a:r>
                        <a:rPr lang="en-US" sz="1000" dirty="0">
                          <a:effectLst/>
                        </a:rPr>
                        <a:t>3. The system displays the dashboard with profile details, recommended jobs, applied jobs, saved jobs, and notifications.</a:t>
                      </a:r>
                      <a:br>
                        <a:rPr lang="en-US" sz="1000" dirty="0">
                          <a:effectLst/>
                        </a:rPr>
                      </a:br>
                      <a:r>
                        <a:rPr lang="en-US" sz="1000" dirty="0">
                          <a:effectLst/>
                        </a:rPr>
                        <a:t>4. The job seeker views the dashboard and selects the desired option for further actions.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87939031"/>
                  </a:ext>
                </a:extLst>
              </a:tr>
              <a:tr h="802019">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seeker's dashboard is successfully displayed.</a:t>
                      </a:r>
                      <a:br>
                        <a:rPr lang="en-US" sz="1000">
                          <a:effectLst/>
                        </a:rPr>
                      </a:br>
                      <a:r>
                        <a:rPr lang="en-US" sz="1000">
                          <a:effectLst/>
                        </a:rPr>
                        <a:t>2. The latest profile information, job recommendations, applied jobs, saved jobs, and notifications are retrieved and shown.</a:t>
                      </a:r>
                      <a:br>
                        <a:rPr lang="en-US" sz="1000">
                          <a:effectLst/>
                        </a:rPr>
                      </a:br>
                      <a:r>
                        <a:rPr lang="en-US" sz="1000">
                          <a:effectLst/>
                        </a:rPr>
                        <a:t>3. The job seeker can access and navigate to other dashboard features.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67243397"/>
                  </a:ext>
                </a:extLst>
              </a:tr>
              <a:tr h="394438">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If the database connection fails, the system displays an error message.</a:t>
                      </a:r>
                      <a:br>
                        <a:rPr lang="en-US" sz="1000" dirty="0">
                          <a:effectLst/>
                        </a:rPr>
                      </a:br>
                      <a:r>
                        <a:rPr lang="en-US" sz="1000" dirty="0">
                          <a:effectLst/>
                        </a:rPr>
                        <a:t>2. If the profile is incomplete, the system prompts the user to complete it.</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68794161"/>
                  </a:ext>
                </a:extLst>
              </a:tr>
            </a:tbl>
          </a:graphicData>
        </a:graphic>
      </p:graphicFrame>
      <p:sp>
        <p:nvSpPr>
          <p:cNvPr id="5" name="TextBox 4">
            <a:extLst>
              <a:ext uri="{FF2B5EF4-FFF2-40B4-BE49-F238E27FC236}">
                <a16:creationId xmlns:a16="http://schemas.microsoft.com/office/drawing/2014/main" id="{62C9EA79-C603-C6FC-9B63-95A4C29083BA}"/>
              </a:ext>
            </a:extLst>
          </p:cNvPr>
          <p:cNvSpPr txBox="1"/>
          <p:nvPr/>
        </p:nvSpPr>
        <p:spPr>
          <a:xfrm>
            <a:off x="118334" y="666973"/>
            <a:ext cx="8011757" cy="4144724"/>
          </a:xfrm>
          <a:prstGeom prst="rect">
            <a:avLst/>
          </a:prstGeom>
          <a:noFill/>
        </p:spPr>
        <p:txBody>
          <a:bodyPr wrap="square">
            <a:spAutoFit/>
          </a:bodyPr>
          <a:lstStyle/>
          <a:p>
            <a:pPr>
              <a:lnSpc>
                <a:spcPct val="100000"/>
              </a:lnSpc>
              <a:spcAft>
                <a:spcPts val="10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Use Case: View Seeker Dashboard Status</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99BBC0AA-7E57-0314-B344-A44BE0E5955F}"/>
              </a:ext>
            </a:extLst>
          </p:cNvPr>
          <p:cNvGraphicFramePr>
            <a:graphicFrameLocks noGrp="1"/>
          </p:cNvGraphicFramePr>
          <p:nvPr>
            <p:extLst>
              <p:ext uri="{D42A27DB-BD31-4B8C-83A1-F6EECF244321}">
                <p14:modId xmlns:p14="http://schemas.microsoft.com/office/powerpoint/2010/main" val="522611709"/>
              </p:ext>
            </p:extLst>
          </p:nvPr>
        </p:nvGraphicFramePr>
        <p:xfrm>
          <a:off x="6314739" y="1013173"/>
          <a:ext cx="5585782" cy="4831653"/>
        </p:xfrm>
        <a:graphic>
          <a:graphicData uri="http://schemas.openxmlformats.org/drawingml/2006/table">
            <a:tbl>
              <a:tblPr firstRow="1" firstCol="1" bandRow="1">
                <a:tableStyleId>{5C22544A-7EE6-4342-B048-85BDC9FD1C3A}</a:tableStyleId>
              </a:tblPr>
              <a:tblGrid>
                <a:gridCol w="1755532">
                  <a:extLst>
                    <a:ext uri="{9D8B030D-6E8A-4147-A177-3AD203B41FA5}">
                      <a16:colId xmlns:a16="http://schemas.microsoft.com/office/drawing/2014/main" val="724734718"/>
                    </a:ext>
                  </a:extLst>
                </a:gridCol>
                <a:gridCol w="3830250">
                  <a:extLst>
                    <a:ext uri="{9D8B030D-6E8A-4147-A177-3AD203B41FA5}">
                      <a16:colId xmlns:a16="http://schemas.microsoft.com/office/drawing/2014/main" val="3762279004"/>
                    </a:ext>
                  </a:extLst>
                </a:gridCol>
              </a:tblGrid>
              <a:tr h="184612">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UC-04</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19755516"/>
                  </a:ext>
                </a:extLst>
              </a:tr>
              <a:tr h="579289">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a job seeker to browse available job postings and filter them based on criteria such as job title, location, company, or experience level.</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537038923"/>
                  </a:ext>
                </a:extLst>
              </a:tr>
              <a:tr h="184612">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Job Seeker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30692608"/>
                  </a:ext>
                </a:extLst>
              </a:tr>
              <a:tr h="184612">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58448278"/>
                  </a:ext>
                </a:extLst>
              </a:tr>
              <a:tr h="579289">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seeker is logged into the system.</a:t>
                      </a:r>
                      <a:br>
                        <a:rPr lang="en-US" sz="1000">
                          <a:effectLst/>
                        </a:rPr>
                      </a:br>
                      <a:r>
                        <a:rPr lang="en-US" sz="1000">
                          <a:effectLst/>
                        </a:rPr>
                        <a:t>2. The system is operational and connected to the database.</a:t>
                      </a:r>
                      <a:br>
                        <a:rPr lang="en-US" sz="1000">
                          <a:effectLst/>
                        </a:rPr>
                      </a:br>
                      <a:r>
                        <a:rPr lang="en-US" sz="1000">
                          <a:effectLst/>
                        </a:rPr>
                        <a:t>3. Job postings are available in the system.</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47560543"/>
                  </a:ext>
                </a:extLst>
              </a:tr>
              <a:tr h="1763322">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seeker opens the Browse Jobs page.</a:t>
                      </a:r>
                      <a:br>
                        <a:rPr lang="en-US" sz="1000">
                          <a:effectLst/>
                        </a:rPr>
                      </a:br>
                      <a:r>
                        <a:rPr lang="en-US" sz="1000">
                          <a:effectLst/>
                        </a:rPr>
                        <a:t>2. The system displays all available job listings.</a:t>
                      </a:r>
                      <a:br>
                        <a:rPr lang="en-US" sz="1000">
                          <a:effectLst/>
                        </a:rPr>
                      </a:br>
                      <a:r>
                        <a:rPr lang="en-US" sz="1000">
                          <a:effectLst/>
                        </a:rPr>
                        <a:t>3. The job seeker enters search keywords or selects filter criteria (location, job type, salary, experience level, etc.).</a:t>
                      </a:r>
                      <a:br>
                        <a:rPr lang="en-US" sz="1000">
                          <a:effectLst/>
                        </a:rPr>
                      </a:br>
                      <a:r>
                        <a:rPr lang="en-US" sz="1000">
                          <a:effectLst/>
                        </a:rPr>
                        <a:t>4. The system processes the selected filters.</a:t>
                      </a:r>
                      <a:br>
                        <a:rPr lang="en-US" sz="1000">
                          <a:effectLst/>
                        </a:rPr>
                      </a:br>
                      <a:r>
                        <a:rPr lang="en-US" sz="1000">
                          <a:effectLst/>
                        </a:rPr>
                        <a:t>5. The system retrieves matching job listings from the database.</a:t>
                      </a:r>
                      <a:br>
                        <a:rPr lang="en-US" sz="1000">
                          <a:effectLst/>
                        </a:rPr>
                      </a:br>
                      <a:r>
                        <a:rPr lang="en-US" sz="1000">
                          <a:effectLst/>
                        </a:rPr>
                        <a:t>6. The system displays the filtered job results.</a:t>
                      </a:r>
                      <a:br>
                        <a:rPr lang="en-US" sz="1000">
                          <a:effectLst/>
                        </a:rPr>
                      </a:br>
                      <a:r>
                        <a:rPr lang="en-US" sz="1000">
                          <a:effectLst/>
                        </a:rPr>
                        <a:t>7. The job seeker browses the results and selects a job to view its details.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27398584"/>
                  </a:ext>
                </a:extLst>
              </a:tr>
              <a:tr h="579289">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filtered list of jobs is displayed to the job seeker.</a:t>
                      </a:r>
                      <a:br>
                        <a:rPr lang="en-US" sz="1000">
                          <a:effectLst/>
                        </a:rPr>
                      </a:br>
                      <a:r>
                        <a:rPr lang="en-US" sz="1000">
                          <a:effectLst/>
                        </a:rPr>
                        <a:t>2. The selected search and filter criteria are applied successfully.</a:t>
                      </a:r>
                      <a:br>
                        <a:rPr lang="en-US" sz="1000">
                          <a:effectLst/>
                        </a:rPr>
                      </a:br>
                      <a:r>
                        <a:rPr lang="en-US" sz="1000">
                          <a:effectLst/>
                        </a:rPr>
                        <a:t>3. The job seeker can view job details or proceed to apply for a job.</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81451764"/>
                  </a:ext>
                </a:extLst>
              </a:tr>
              <a:tr h="776628">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If no jobs match the filters, the system displays a 'No results found' message.</a:t>
                      </a:r>
                      <a:br>
                        <a:rPr lang="en-US" sz="1000" dirty="0">
                          <a:effectLst/>
                        </a:rPr>
                      </a:br>
                      <a:r>
                        <a:rPr lang="en-US" sz="1000" dirty="0">
                          <a:effectLst/>
                        </a:rPr>
                        <a:t>2. If the database is unreachable, the system shows an error notification.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39229488"/>
                  </a:ext>
                </a:extLst>
              </a:tr>
            </a:tbl>
          </a:graphicData>
        </a:graphic>
      </p:graphicFrame>
      <p:sp>
        <p:nvSpPr>
          <p:cNvPr id="8" name="TextBox 7">
            <a:extLst>
              <a:ext uri="{FF2B5EF4-FFF2-40B4-BE49-F238E27FC236}">
                <a16:creationId xmlns:a16="http://schemas.microsoft.com/office/drawing/2014/main" id="{98244C55-5006-E9A9-6F2C-B1E88C7EE22B}"/>
              </a:ext>
            </a:extLst>
          </p:cNvPr>
          <p:cNvSpPr txBox="1"/>
          <p:nvPr/>
        </p:nvSpPr>
        <p:spPr>
          <a:xfrm>
            <a:off x="6454588" y="666973"/>
            <a:ext cx="6704829" cy="5442516"/>
          </a:xfrm>
          <a:prstGeom prst="rect">
            <a:avLst/>
          </a:prstGeom>
          <a:noFill/>
        </p:spPr>
        <p:txBody>
          <a:bodyPr wrap="square">
            <a:spAutoFit/>
          </a:bodyPr>
          <a:lstStyle/>
          <a:p>
            <a:pPr>
              <a:lnSpc>
                <a:spcPct val="100000"/>
              </a:lnSpc>
              <a:spcAft>
                <a:spcPts val="10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Use Case: Browse &amp; Filter Open Jobs</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 </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300604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3">
            <a:extLst>
              <a:ext uri="{FF2B5EF4-FFF2-40B4-BE49-F238E27FC236}">
                <a16:creationId xmlns:a16="http://schemas.microsoft.com/office/drawing/2014/main" id="{F250D10A-489A-A6EE-DA7E-458EED6BCEB7}"/>
              </a:ext>
            </a:extLst>
          </p:cNvPr>
          <p:cNvSpPr txBox="1"/>
          <p:nvPr/>
        </p:nvSpPr>
        <p:spPr>
          <a:xfrm>
            <a:off x="541020" y="1252728"/>
            <a:ext cx="184731" cy="284693"/>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b="1"/>
            </a:pPr>
            <a:endParaRPr dirty="0"/>
          </a:p>
        </p:txBody>
      </p:sp>
      <p:sp>
        <p:nvSpPr>
          <p:cNvPr id="14" name="TextBox 4">
            <a:extLst>
              <a:ext uri="{FF2B5EF4-FFF2-40B4-BE49-F238E27FC236}">
                <a16:creationId xmlns:a16="http://schemas.microsoft.com/office/drawing/2014/main" id="{4781DD4F-7AEE-18E8-E849-36EA42CAD429}"/>
              </a:ext>
            </a:extLst>
          </p:cNvPr>
          <p:cNvSpPr txBox="1"/>
          <p:nvPr/>
        </p:nvSpPr>
        <p:spPr>
          <a:xfrm>
            <a:off x="541020" y="1737360"/>
            <a:ext cx="3246120" cy="228781"/>
          </a:xfrm>
          <a:prstGeom prst="rect">
            <a:avLst/>
          </a:prstGeom>
          <a:noFill/>
        </p:spPr>
        <p:txBody>
          <a:bodyPr wrap="square" lIns="63500" tIns="50800" rIns="63500" bIns="5080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endParaRPr sz="820" dirty="0"/>
          </a:p>
        </p:txBody>
      </p:sp>
      <p:sp>
        <p:nvSpPr>
          <p:cNvPr id="16" name="TextBox 6">
            <a:extLst>
              <a:ext uri="{FF2B5EF4-FFF2-40B4-BE49-F238E27FC236}">
                <a16:creationId xmlns:a16="http://schemas.microsoft.com/office/drawing/2014/main" id="{BDB79BFA-9EB5-245F-37E0-F0BDA28C09D8}"/>
              </a:ext>
            </a:extLst>
          </p:cNvPr>
          <p:cNvSpPr txBox="1"/>
          <p:nvPr/>
        </p:nvSpPr>
        <p:spPr>
          <a:xfrm>
            <a:off x="3171771" y="1016598"/>
            <a:ext cx="3246120" cy="228781"/>
          </a:xfrm>
          <a:prstGeom prst="rect">
            <a:avLst/>
          </a:prstGeom>
          <a:noFill/>
        </p:spPr>
        <p:txBody>
          <a:bodyPr wrap="square" lIns="63500" tIns="50800" rIns="63500" bIns="5080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sz="820" dirty="0"/>
              <a:t>.</a:t>
            </a:r>
          </a:p>
        </p:txBody>
      </p:sp>
      <p:sp>
        <p:nvSpPr>
          <p:cNvPr id="19" name="TextBox 9">
            <a:extLst>
              <a:ext uri="{FF2B5EF4-FFF2-40B4-BE49-F238E27FC236}">
                <a16:creationId xmlns:a16="http://schemas.microsoft.com/office/drawing/2014/main" id="{8A6599F1-CECE-7295-45EB-9B9DF74FE726}"/>
              </a:ext>
            </a:extLst>
          </p:cNvPr>
          <p:cNvSpPr txBox="1"/>
          <p:nvPr/>
        </p:nvSpPr>
        <p:spPr>
          <a:xfrm>
            <a:off x="10919460" y="6492240"/>
            <a:ext cx="731520" cy="22860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900"/>
            </a:pPr>
            <a:r>
              <a:t>27</a:t>
            </a:r>
          </a:p>
        </p:txBody>
      </p:sp>
      <p:graphicFrame>
        <p:nvGraphicFramePr>
          <p:cNvPr id="2" name="Table 1">
            <a:extLst>
              <a:ext uri="{FF2B5EF4-FFF2-40B4-BE49-F238E27FC236}">
                <a16:creationId xmlns:a16="http://schemas.microsoft.com/office/drawing/2014/main" id="{22E3854B-EBB6-C6D0-D216-BCC626EE46DB}"/>
              </a:ext>
            </a:extLst>
          </p:cNvPr>
          <p:cNvGraphicFramePr>
            <a:graphicFrameLocks noGrp="1"/>
          </p:cNvGraphicFramePr>
          <p:nvPr>
            <p:extLst>
              <p:ext uri="{D42A27DB-BD31-4B8C-83A1-F6EECF244321}">
                <p14:modId xmlns:p14="http://schemas.microsoft.com/office/powerpoint/2010/main" val="3982654860"/>
              </p:ext>
            </p:extLst>
          </p:nvPr>
        </p:nvGraphicFramePr>
        <p:xfrm>
          <a:off x="323685" y="1537421"/>
          <a:ext cx="5162715" cy="4895602"/>
        </p:xfrm>
        <a:graphic>
          <a:graphicData uri="http://schemas.openxmlformats.org/drawingml/2006/table">
            <a:tbl>
              <a:tblPr firstRow="1" firstCol="1" bandRow="1">
                <a:tableStyleId>{5C22544A-7EE6-4342-B048-85BDC9FD1C3A}</a:tableStyleId>
              </a:tblPr>
              <a:tblGrid>
                <a:gridCol w="1662025">
                  <a:extLst>
                    <a:ext uri="{9D8B030D-6E8A-4147-A177-3AD203B41FA5}">
                      <a16:colId xmlns:a16="http://schemas.microsoft.com/office/drawing/2014/main" val="261574280"/>
                    </a:ext>
                  </a:extLst>
                </a:gridCol>
                <a:gridCol w="3500690">
                  <a:extLst>
                    <a:ext uri="{9D8B030D-6E8A-4147-A177-3AD203B41FA5}">
                      <a16:colId xmlns:a16="http://schemas.microsoft.com/office/drawing/2014/main" val="407229046"/>
                    </a:ext>
                  </a:extLst>
                </a:gridCol>
              </a:tblGrid>
              <a:tr h="208348">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UC-05</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69077563"/>
                  </a:ext>
                </a:extLst>
              </a:tr>
              <a:tr h="653772">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a job seeker to view the full details of a specific job posting including description, requirements, salary, company info, and application instructions.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59269104"/>
                  </a:ext>
                </a:extLst>
              </a:tr>
              <a:tr h="208348">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Job Seeker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97638545"/>
                  </a:ext>
                </a:extLst>
              </a:tr>
              <a:tr h="208348">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57359887"/>
                  </a:ext>
                </a:extLst>
              </a:tr>
              <a:tr h="653772">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seeker is logged into the system.</a:t>
                      </a:r>
                      <a:br>
                        <a:rPr lang="en-US" sz="1000">
                          <a:effectLst/>
                        </a:rPr>
                      </a:br>
                      <a:r>
                        <a:rPr lang="en-US" sz="1000">
                          <a:effectLst/>
                        </a:rPr>
                        <a:t>2. The job seeker is on the browse jobs or dashboard page.</a:t>
                      </a:r>
                      <a:br>
                        <a:rPr lang="en-US" sz="1000">
                          <a:effectLst/>
                        </a:rPr>
                      </a:br>
                      <a:r>
                        <a:rPr lang="en-US" sz="1000">
                          <a:effectLst/>
                        </a:rPr>
                        <a:t>3. Job postings are available in the system.</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85935541"/>
                  </a:ext>
                </a:extLst>
              </a:tr>
              <a:tr h="229248">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a:effectLst/>
                        </a:rPr>
                        <a:t> </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14267432"/>
                  </a:ext>
                </a:extLst>
              </a:tr>
              <a:tr h="229248">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100">
                          <a:effectLst/>
                        </a:rPr>
                        <a:t> </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89596368"/>
                  </a:ext>
                </a:extLst>
              </a:tr>
              <a:tr h="1990041">
                <a:tc>
                  <a:txBody>
                    <a:bodyPr/>
                    <a:lstStyle/>
                    <a:p>
                      <a:pPr>
                        <a:lnSpc>
                          <a:spcPct val="115000"/>
                        </a:lnSpc>
                        <a:spcAft>
                          <a:spcPts val="1000"/>
                        </a:spcAft>
                        <a:buNone/>
                      </a:pPr>
                      <a:r>
                        <a:rPr lang="en-US" sz="1000" dirty="0">
                          <a:effectLst/>
                        </a:rPr>
                        <a:t>Alternative Flows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The job seeker clicks on a job listing from the browse results or recommendations.</a:t>
                      </a:r>
                      <a:br>
                        <a:rPr lang="en-US" sz="1000" dirty="0">
                          <a:effectLst/>
                        </a:rPr>
                      </a:br>
                      <a:r>
                        <a:rPr lang="en-US" sz="1000" dirty="0">
                          <a:effectLst/>
                        </a:rPr>
                        <a:t>2. The system retrieves the detailed job information from the database.</a:t>
                      </a:r>
                      <a:br>
                        <a:rPr lang="en-US" sz="1000" dirty="0">
                          <a:effectLst/>
                        </a:rPr>
                      </a:br>
                      <a:r>
                        <a:rPr lang="en-US" sz="1000" dirty="0">
                          <a:effectLst/>
                        </a:rPr>
                        <a:t>3. The system displays the job details page (title, description, requirements, salary range, location, company, posted date, deadline).</a:t>
                      </a:r>
                      <a:br>
                        <a:rPr lang="en-US" sz="1000" dirty="0">
                          <a:effectLst/>
                        </a:rPr>
                      </a:br>
                      <a:r>
                        <a:rPr lang="en-US" sz="1000" dirty="0">
                          <a:effectLst/>
                        </a:rPr>
                        <a:t>4. The job seeker reviews the details.</a:t>
                      </a:r>
                      <a:br>
                        <a:rPr lang="en-US" sz="1000" dirty="0">
                          <a:effectLst/>
                        </a:rPr>
                      </a:br>
                      <a:r>
                        <a:rPr lang="en-US" sz="1000" dirty="0">
                          <a:effectLst/>
                        </a:rPr>
                        <a:t>5. The system optionally displays View Skill Match Scoring (&lt;&lt;extend&gt;&gt;) if the seeker has uploaded a resume.</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72870034"/>
                  </a:ext>
                </a:extLst>
              </a:tr>
              <a:tr h="431060">
                <a:tc>
                  <a:txBody>
                    <a:bodyPr/>
                    <a:lstStyle/>
                    <a:p>
                      <a:pPr>
                        <a:lnSpc>
                          <a:spcPct val="115000"/>
                        </a:lnSpc>
                        <a:spcAft>
                          <a:spcPts val="1000"/>
                        </a:spcAft>
                        <a:buNone/>
                      </a:pPr>
                      <a:r>
                        <a:rPr lang="en-US" sz="1000">
                          <a:effectLst/>
                        </a:rPr>
                        <a:t> </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The job details are successfully displayed.</a:t>
                      </a:r>
                      <a:br>
                        <a:rPr lang="en-US" sz="1000" dirty="0">
                          <a:effectLst/>
                        </a:rPr>
                      </a:br>
                      <a:r>
                        <a:rPr lang="en-US" sz="1000" dirty="0">
                          <a:effectLst/>
                        </a:rPr>
                        <a:t>2. The job seeker can proceed to apply, save, or return to browsing.</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59114837"/>
                  </a:ext>
                </a:extLst>
              </a:tr>
            </a:tbl>
          </a:graphicData>
        </a:graphic>
      </p:graphicFrame>
      <p:sp>
        <p:nvSpPr>
          <p:cNvPr id="4" name="TextBox 3">
            <a:extLst>
              <a:ext uri="{FF2B5EF4-FFF2-40B4-BE49-F238E27FC236}">
                <a16:creationId xmlns:a16="http://schemas.microsoft.com/office/drawing/2014/main" id="{EF2D04F3-507C-54B9-6FE0-6E968F36347D}"/>
              </a:ext>
            </a:extLst>
          </p:cNvPr>
          <p:cNvSpPr txBox="1"/>
          <p:nvPr/>
        </p:nvSpPr>
        <p:spPr>
          <a:xfrm>
            <a:off x="466671" y="864849"/>
            <a:ext cx="6094206" cy="3256469"/>
          </a:xfrm>
          <a:prstGeom prst="rect">
            <a:avLst/>
          </a:prstGeom>
          <a:noFill/>
        </p:spPr>
        <p:txBody>
          <a:bodyPr wrap="square">
            <a:spAutoFit/>
          </a:bodyPr>
          <a:lstStyle/>
          <a:p>
            <a:pPr>
              <a:lnSpc>
                <a:spcPct val="100000"/>
              </a:lnSpc>
              <a:spcAft>
                <a:spcPts val="10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Use Case: View Job Details</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 </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55A1AF0D-8B37-47F9-45BF-E622E813711E}"/>
              </a:ext>
            </a:extLst>
          </p:cNvPr>
          <p:cNvGraphicFramePr>
            <a:graphicFrameLocks noGrp="1"/>
          </p:cNvGraphicFramePr>
          <p:nvPr>
            <p:extLst>
              <p:ext uri="{D42A27DB-BD31-4B8C-83A1-F6EECF244321}">
                <p14:modId xmlns:p14="http://schemas.microsoft.com/office/powerpoint/2010/main" val="3669721680"/>
              </p:ext>
            </p:extLst>
          </p:nvPr>
        </p:nvGraphicFramePr>
        <p:xfrm>
          <a:off x="5867343" y="1737360"/>
          <a:ext cx="4944092" cy="4816856"/>
        </p:xfrm>
        <a:graphic>
          <a:graphicData uri="http://schemas.openxmlformats.org/drawingml/2006/table">
            <a:tbl>
              <a:tblPr firstRow="1" firstCol="1" bandRow="1">
                <a:tableStyleId>{5C22544A-7EE6-4342-B048-85BDC9FD1C3A}</a:tableStyleId>
              </a:tblPr>
              <a:tblGrid>
                <a:gridCol w="1553857">
                  <a:extLst>
                    <a:ext uri="{9D8B030D-6E8A-4147-A177-3AD203B41FA5}">
                      <a16:colId xmlns:a16="http://schemas.microsoft.com/office/drawing/2014/main" val="191876535"/>
                    </a:ext>
                  </a:extLst>
                </a:gridCol>
                <a:gridCol w="3390235">
                  <a:extLst>
                    <a:ext uri="{9D8B030D-6E8A-4147-A177-3AD203B41FA5}">
                      <a16:colId xmlns:a16="http://schemas.microsoft.com/office/drawing/2014/main" val="50870791"/>
                    </a:ext>
                  </a:extLst>
                </a:gridCol>
              </a:tblGrid>
              <a:tr h="0">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UC-06</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62070644"/>
                  </a:ext>
                </a:extLst>
              </a:tr>
              <a:tr h="0">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a job seeker to upload a new PDF resume, replace an existing one, or delete their resume from the system.</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20113261"/>
                  </a:ext>
                </a:extLst>
              </a:tr>
              <a:tr h="0">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Job Seeker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826080640"/>
                  </a:ext>
                </a:extLst>
              </a:tr>
              <a:tr h="0">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33881718"/>
                  </a:ext>
                </a:extLst>
              </a:tr>
              <a:tr h="0">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seeker is logged into the system.</a:t>
                      </a:r>
                      <a:br>
                        <a:rPr lang="en-US" sz="1000">
                          <a:effectLst/>
                        </a:rPr>
                      </a:br>
                      <a:r>
                        <a:rPr lang="en-US" sz="1000">
                          <a:effectLst/>
                        </a:rPr>
                        <a:t>2. The job seeker has a valid PDF file (for upload).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60830810"/>
                  </a:ext>
                </a:extLst>
              </a:tr>
              <a:tr h="0">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UPLOAD:</a:t>
                      </a:r>
                      <a:br>
                        <a:rPr lang="en-US" sz="1000">
                          <a:effectLst/>
                        </a:rPr>
                      </a:br>
                      <a:r>
                        <a:rPr lang="en-US" sz="1000">
                          <a:effectLst/>
                        </a:rPr>
                        <a:t>1. The job seeker navigates to the Profile / Resume section.</a:t>
                      </a:r>
                      <a:br>
                        <a:rPr lang="en-US" sz="1000">
                          <a:effectLst/>
                        </a:rPr>
                      </a:br>
                      <a:r>
                        <a:rPr lang="en-US" sz="1000">
                          <a:effectLst/>
                        </a:rPr>
                        <a:t>2. The system displays the current resume status (uploaded / not uploaded).</a:t>
                      </a:r>
                      <a:br>
                        <a:rPr lang="en-US" sz="1000">
                          <a:effectLst/>
                        </a:rPr>
                      </a:br>
                      <a:r>
                        <a:rPr lang="en-US" sz="1000">
                          <a:effectLst/>
                        </a:rPr>
                        <a:t>3. The job seeker clicks Upload / Replace Resume and selects a PDF file.</a:t>
                      </a:r>
                      <a:br>
                        <a:rPr lang="en-US" sz="1000">
                          <a:effectLst/>
                        </a:rPr>
                      </a:br>
                      <a:r>
                        <a:rPr lang="en-US" sz="1000">
                          <a:effectLst/>
                        </a:rPr>
                        <a:t>4. The system validates the file type (PDF) and size.</a:t>
                      </a:r>
                      <a:br>
                        <a:rPr lang="en-US" sz="1000">
                          <a:effectLst/>
                        </a:rPr>
                      </a:br>
                      <a:r>
                        <a:rPr lang="en-US" sz="1000">
                          <a:effectLst/>
                        </a:rPr>
                        <a:t>5. The system stores the resume file and updates the profile record.</a:t>
                      </a:r>
                      <a:br>
                        <a:rPr lang="en-US" sz="1000">
                          <a:effectLst/>
                        </a:rPr>
                      </a:br>
                      <a:r>
                        <a:rPr lang="en-US" sz="1000">
                          <a:effectLst/>
                        </a:rPr>
                        <a:t>6. The system displays a success confirmation.</a:t>
                      </a:r>
                      <a:br>
                        <a:rPr lang="en-US" sz="1000">
                          <a:effectLst/>
                        </a:rPr>
                      </a:br>
                      <a:br>
                        <a:rPr lang="en-US" sz="1000">
                          <a:effectLst/>
                        </a:rPr>
                      </a:br>
                      <a:r>
                        <a:rPr lang="en-US" sz="1000">
                          <a:effectLst/>
                        </a:rPr>
                        <a:t>DELETE:</a:t>
                      </a:r>
                      <a:br>
                        <a:rPr lang="en-US" sz="1000">
                          <a:effectLst/>
                        </a:rPr>
                      </a:br>
                      <a:r>
                        <a:rPr lang="en-US" sz="1000">
                          <a:effectLst/>
                        </a:rPr>
                        <a:t>1. The job seeker clicks Delete Resume.</a:t>
                      </a:r>
                      <a:br>
                        <a:rPr lang="en-US" sz="1000">
                          <a:effectLst/>
                        </a:rPr>
                      </a:br>
                      <a:r>
                        <a:rPr lang="en-US" sz="1000">
                          <a:effectLst/>
                        </a:rPr>
                        <a:t>2. The system prompts for confirmation.</a:t>
                      </a:r>
                      <a:br>
                        <a:rPr lang="en-US" sz="1000">
                          <a:effectLst/>
                        </a:rPr>
                      </a:br>
                      <a:r>
                        <a:rPr lang="en-US" sz="1000">
                          <a:effectLst/>
                        </a:rPr>
                        <a:t>3. Upon confirmation, the system removes the resume file and updates the profile.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39598378"/>
                  </a:ext>
                </a:extLst>
              </a:tr>
              <a:tr h="0">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resume is successfully uploaded, replaced, or deleted.</a:t>
                      </a:r>
                      <a:br>
                        <a:rPr lang="en-US" sz="1000">
                          <a:effectLst/>
                        </a:rPr>
                      </a:br>
                      <a:r>
                        <a:rPr lang="en-US" sz="1000">
                          <a:effectLst/>
                        </a:rPr>
                        <a:t>2. The profile is updated with the latest resume reference.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95950538"/>
                  </a:ext>
                </a:extLst>
              </a:tr>
              <a:tr h="0">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Invalid file type → system rejects and prompts for PDF.</a:t>
                      </a:r>
                      <a:br>
                        <a:rPr lang="en-US" sz="1000" dirty="0">
                          <a:effectLst/>
                        </a:rPr>
                      </a:br>
                      <a:r>
                        <a:rPr lang="en-US" sz="1000" dirty="0">
                          <a:effectLst/>
                        </a:rPr>
                        <a:t>2. File size exceeds limit → system requests a smaller file.</a:t>
                      </a:r>
                      <a:br>
                        <a:rPr lang="en-US" sz="1000" dirty="0">
                          <a:effectLst/>
                        </a:rPr>
                      </a:br>
                      <a:r>
                        <a:rPr lang="en-US" sz="1000" dirty="0">
                          <a:effectLst/>
                        </a:rPr>
                        <a:t>3. Upload fails → system shows an error and allows retry.</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7777829"/>
                  </a:ext>
                </a:extLst>
              </a:tr>
            </a:tbl>
          </a:graphicData>
        </a:graphic>
      </p:graphicFrame>
      <p:sp>
        <p:nvSpPr>
          <p:cNvPr id="7" name="TextBox 6">
            <a:extLst>
              <a:ext uri="{FF2B5EF4-FFF2-40B4-BE49-F238E27FC236}">
                <a16:creationId xmlns:a16="http://schemas.microsoft.com/office/drawing/2014/main" id="{12981529-228B-94C2-B677-31A85D5F429C}"/>
              </a:ext>
            </a:extLst>
          </p:cNvPr>
          <p:cNvSpPr txBox="1"/>
          <p:nvPr/>
        </p:nvSpPr>
        <p:spPr>
          <a:xfrm>
            <a:off x="5629386" y="714142"/>
            <a:ext cx="6447821" cy="6542159"/>
          </a:xfrm>
          <a:prstGeom prst="rect">
            <a:avLst/>
          </a:prstGeom>
          <a:noFill/>
        </p:spPr>
        <p:txBody>
          <a:bodyPr wrap="square">
            <a:spAutoFit/>
          </a:bodyPr>
          <a:lstStyle/>
          <a:p>
            <a:pPr>
              <a:lnSpc>
                <a:spcPct val="100000"/>
              </a:lnSpc>
              <a:spcAft>
                <a:spcPts val="10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Use Case: Upload &amp; Manage PDF Resume</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 </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3759041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165C546-7DEC-AAD3-0A77-4965813C8D31}"/>
              </a:ext>
            </a:extLst>
          </p:cNvPr>
          <p:cNvSpPr txBox="1"/>
          <p:nvPr/>
        </p:nvSpPr>
        <p:spPr>
          <a:xfrm>
            <a:off x="7770159" y="1376081"/>
            <a:ext cx="3246120" cy="228781"/>
          </a:xfrm>
          <a:prstGeom prst="rect">
            <a:avLst/>
          </a:prstGeom>
          <a:noFill/>
        </p:spPr>
        <p:txBody>
          <a:bodyPr wrap="square" lIns="63500" tIns="50800" rIns="63500" bIns="5080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endParaRPr sz="820" dirty="0"/>
          </a:p>
        </p:txBody>
      </p:sp>
      <p:sp>
        <p:nvSpPr>
          <p:cNvPr id="10" name="TextBox 9">
            <a:extLst>
              <a:ext uri="{FF2B5EF4-FFF2-40B4-BE49-F238E27FC236}">
                <a16:creationId xmlns:a16="http://schemas.microsoft.com/office/drawing/2014/main" id="{EBFC9184-CA54-39FF-DB49-F7C252BE4C49}"/>
              </a:ext>
            </a:extLst>
          </p:cNvPr>
          <p:cNvSpPr txBox="1"/>
          <p:nvPr/>
        </p:nvSpPr>
        <p:spPr>
          <a:xfrm>
            <a:off x="10919460" y="6492240"/>
            <a:ext cx="731520" cy="22860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900"/>
            </a:pPr>
            <a:r>
              <a:t>27</a:t>
            </a:r>
          </a:p>
        </p:txBody>
      </p:sp>
      <p:graphicFrame>
        <p:nvGraphicFramePr>
          <p:cNvPr id="13" name="Table 12">
            <a:extLst>
              <a:ext uri="{FF2B5EF4-FFF2-40B4-BE49-F238E27FC236}">
                <a16:creationId xmlns:a16="http://schemas.microsoft.com/office/drawing/2014/main" id="{4994F972-EAF7-4A8B-44B0-19105484AF90}"/>
              </a:ext>
            </a:extLst>
          </p:cNvPr>
          <p:cNvGraphicFramePr>
            <a:graphicFrameLocks noGrp="1"/>
          </p:cNvGraphicFramePr>
          <p:nvPr>
            <p:extLst>
              <p:ext uri="{D42A27DB-BD31-4B8C-83A1-F6EECF244321}">
                <p14:modId xmlns:p14="http://schemas.microsoft.com/office/powerpoint/2010/main" val="3005617087"/>
              </p:ext>
            </p:extLst>
          </p:nvPr>
        </p:nvGraphicFramePr>
        <p:xfrm>
          <a:off x="49365" y="1600200"/>
          <a:ext cx="5738249" cy="4525963"/>
        </p:xfrm>
        <a:graphic>
          <a:graphicData uri="http://schemas.openxmlformats.org/drawingml/2006/table">
            <a:tbl>
              <a:tblPr firstRow="1" firstCol="1" bandRow="1">
                <a:tableStyleId>{5C22544A-7EE6-4342-B048-85BDC9FD1C3A}</a:tableStyleId>
              </a:tblPr>
              <a:tblGrid>
                <a:gridCol w="1803450">
                  <a:extLst>
                    <a:ext uri="{9D8B030D-6E8A-4147-A177-3AD203B41FA5}">
                      <a16:colId xmlns:a16="http://schemas.microsoft.com/office/drawing/2014/main" val="3808951434"/>
                    </a:ext>
                  </a:extLst>
                </a:gridCol>
                <a:gridCol w="3934799">
                  <a:extLst>
                    <a:ext uri="{9D8B030D-6E8A-4147-A177-3AD203B41FA5}">
                      <a16:colId xmlns:a16="http://schemas.microsoft.com/office/drawing/2014/main" val="3833633474"/>
                    </a:ext>
                  </a:extLst>
                </a:gridCol>
              </a:tblGrid>
              <a:tr h="138895">
                <a:tc>
                  <a:txBody>
                    <a:bodyPr/>
                    <a:lstStyle/>
                    <a:p>
                      <a:pPr>
                        <a:lnSpc>
                          <a:spcPct val="115000"/>
                        </a:lnSpc>
                        <a:spcAft>
                          <a:spcPts val="1000"/>
                        </a:spcAft>
                        <a:buNone/>
                      </a:pPr>
                      <a:r>
                        <a:rPr lang="en-US" sz="800">
                          <a:effectLst/>
                        </a:rPr>
                        <a:t>ID</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tc>
                  <a:txBody>
                    <a:bodyPr/>
                    <a:lstStyle/>
                    <a:p>
                      <a:pPr>
                        <a:lnSpc>
                          <a:spcPct val="115000"/>
                        </a:lnSpc>
                        <a:spcAft>
                          <a:spcPts val="1000"/>
                        </a:spcAft>
                        <a:buNone/>
                      </a:pPr>
                      <a:r>
                        <a:rPr lang="en-US" sz="800">
                          <a:effectLst/>
                        </a:rPr>
                        <a:t>UC-07</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extLst>
                  <a:ext uri="{0D108BD9-81ED-4DB2-BD59-A6C34878D82A}">
                    <a16:rowId xmlns:a16="http://schemas.microsoft.com/office/drawing/2014/main" val="2820621477"/>
                  </a:ext>
                </a:extLst>
              </a:tr>
              <a:tr h="287364">
                <a:tc>
                  <a:txBody>
                    <a:bodyPr/>
                    <a:lstStyle/>
                    <a:p>
                      <a:pPr>
                        <a:lnSpc>
                          <a:spcPct val="115000"/>
                        </a:lnSpc>
                        <a:spcAft>
                          <a:spcPts val="1000"/>
                        </a:spcAft>
                        <a:buNone/>
                      </a:pPr>
                      <a:r>
                        <a:rPr lang="en-US" sz="800">
                          <a:effectLst/>
                        </a:rPr>
                        <a:t>Brief Description</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tc>
                  <a:txBody>
                    <a:bodyPr/>
                    <a:lstStyle/>
                    <a:p>
                      <a:pPr>
                        <a:lnSpc>
                          <a:spcPct val="115000"/>
                        </a:lnSpc>
                        <a:spcAft>
                          <a:spcPts val="1000"/>
                        </a:spcAft>
                        <a:buNone/>
                      </a:pPr>
                      <a:r>
                        <a:rPr lang="en-US" sz="800">
                          <a:effectLst/>
                        </a:rPr>
                        <a:t>Allows a job seeker to submit an application for an open job or withdraw a previously submitted application.</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extLst>
                  <a:ext uri="{0D108BD9-81ED-4DB2-BD59-A6C34878D82A}">
                    <a16:rowId xmlns:a16="http://schemas.microsoft.com/office/drawing/2014/main" val="2852674884"/>
                  </a:ext>
                </a:extLst>
              </a:tr>
              <a:tr h="138895">
                <a:tc>
                  <a:txBody>
                    <a:bodyPr/>
                    <a:lstStyle/>
                    <a:p>
                      <a:pPr>
                        <a:lnSpc>
                          <a:spcPct val="115000"/>
                        </a:lnSpc>
                        <a:spcAft>
                          <a:spcPts val="1000"/>
                        </a:spcAft>
                        <a:buNone/>
                      </a:pPr>
                      <a:r>
                        <a:rPr lang="en-US" sz="800">
                          <a:effectLst/>
                        </a:rPr>
                        <a:t>Primary Actor</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tc>
                  <a:txBody>
                    <a:bodyPr/>
                    <a:lstStyle/>
                    <a:p>
                      <a:pPr>
                        <a:lnSpc>
                          <a:spcPct val="115000"/>
                        </a:lnSpc>
                        <a:spcAft>
                          <a:spcPts val="1000"/>
                        </a:spcAft>
                        <a:buNone/>
                      </a:pPr>
                      <a:r>
                        <a:rPr lang="en-US" sz="800">
                          <a:effectLst/>
                        </a:rPr>
                        <a:t>Job Seeker</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extLst>
                  <a:ext uri="{0D108BD9-81ED-4DB2-BD59-A6C34878D82A}">
                    <a16:rowId xmlns:a16="http://schemas.microsoft.com/office/drawing/2014/main" val="3182513906"/>
                  </a:ext>
                </a:extLst>
              </a:tr>
              <a:tr h="138895">
                <a:tc>
                  <a:txBody>
                    <a:bodyPr/>
                    <a:lstStyle/>
                    <a:p>
                      <a:pPr>
                        <a:lnSpc>
                          <a:spcPct val="115000"/>
                        </a:lnSpc>
                        <a:spcAft>
                          <a:spcPts val="1000"/>
                        </a:spcAft>
                        <a:buNone/>
                      </a:pPr>
                      <a:r>
                        <a:rPr lang="en-US" sz="800">
                          <a:effectLst/>
                        </a:rPr>
                        <a:t>Secondary Actor</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tc>
                  <a:txBody>
                    <a:bodyPr/>
                    <a:lstStyle/>
                    <a:p>
                      <a:pPr>
                        <a:lnSpc>
                          <a:spcPct val="115000"/>
                        </a:lnSpc>
                        <a:spcAft>
                          <a:spcPts val="1000"/>
                        </a:spcAft>
                        <a:buNone/>
                      </a:pPr>
                      <a:r>
                        <a:rPr lang="en-US" sz="800">
                          <a:effectLst/>
                        </a:rPr>
                        <a:t>None</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extLst>
                  <a:ext uri="{0D108BD9-81ED-4DB2-BD59-A6C34878D82A}">
                    <a16:rowId xmlns:a16="http://schemas.microsoft.com/office/drawing/2014/main" val="3150015288"/>
                  </a:ext>
                </a:extLst>
              </a:tr>
              <a:tr h="732774">
                <a:tc>
                  <a:txBody>
                    <a:bodyPr/>
                    <a:lstStyle/>
                    <a:p>
                      <a:pPr>
                        <a:lnSpc>
                          <a:spcPct val="115000"/>
                        </a:lnSpc>
                        <a:spcAft>
                          <a:spcPts val="1000"/>
                        </a:spcAft>
                        <a:buNone/>
                      </a:pPr>
                      <a:r>
                        <a:rPr lang="en-US" sz="800">
                          <a:effectLst/>
                        </a:rPr>
                        <a:t>Preconditions</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tc>
                  <a:txBody>
                    <a:bodyPr/>
                    <a:lstStyle/>
                    <a:p>
                      <a:pPr>
                        <a:lnSpc>
                          <a:spcPct val="115000"/>
                        </a:lnSpc>
                        <a:spcAft>
                          <a:spcPts val="1000"/>
                        </a:spcAft>
                        <a:buNone/>
                      </a:pPr>
                      <a:r>
                        <a:rPr lang="en-US" sz="800">
                          <a:effectLst/>
                        </a:rPr>
                        <a:t>1. The job seeker is logged into the system.</a:t>
                      </a:r>
                      <a:br>
                        <a:rPr lang="en-US" sz="800">
                          <a:effectLst/>
                        </a:rPr>
                      </a:br>
                      <a:r>
                        <a:rPr lang="en-US" sz="800">
                          <a:effectLst/>
                        </a:rPr>
                        <a:t>2. The job seeker has viewed the job details.</a:t>
                      </a:r>
                      <a:br>
                        <a:rPr lang="en-US" sz="800">
                          <a:effectLst/>
                        </a:rPr>
                      </a:br>
                      <a:r>
                        <a:rPr lang="en-US" sz="800">
                          <a:effectLst/>
                        </a:rPr>
                        <a:t>3. A resume is uploaded (for apply).</a:t>
                      </a:r>
                      <a:br>
                        <a:rPr lang="en-US" sz="800">
                          <a:effectLst/>
                        </a:rPr>
                      </a:br>
                      <a:r>
                        <a:rPr lang="en-US" sz="800">
                          <a:effectLst/>
                        </a:rPr>
                        <a:t>4. The job post status is Open.</a:t>
                      </a:r>
                      <a:br>
                        <a:rPr lang="en-US" sz="800">
                          <a:effectLst/>
                        </a:rPr>
                      </a:br>
                      <a:r>
                        <a:rPr lang="en-US" sz="800">
                          <a:effectLst/>
                        </a:rPr>
                        <a:t>5. The job seeker has already applied (for withdraw).</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extLst>
                  <a:ext uri="{0D108BD9-81ED-4DB2-BD59-A6C34878D82A}">
                    <a16:rowId xmlns:a16="http://schemas.microsoft.com/office/drawing/2014/main" val="1321212147"/>
                  </a:ext>
                </a:extLst>
              </a:tr>
              <a:tr h="2217472">
                <a:tc>
                  <a:txBody>
                    <a:bodyPr/>
                    <a:lstStyle/>
                    <a:p>
                      <a:pPr>
                        <a:lnSpc>
                          <a:spcPct val="115000"/>
                        </a:lnSpc>
                        <a:spcAft>
                          <a:spcPts val="1000"/>
                        </a:spcAft>
                        <a:buNone/>
                      </a:pPr>
                      <a:r>
                        <a:rPr lang="en-US" sz="800">
                          <a:effectLst/>
                        </a:rPr>
                        <a:t>Main Flow</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tc>
                  <a:txBody>
                    <a:bodyPr/>
                    <a:lstStyle/>
                    <a:p>
                      <a:pPr>
                        <a:lnSpc>
                          <a:spcPct val="115000"/>
                        </a:lnSpc>
                        <a:spcAft>
                          <a:spcPts val="1000"/>
                        </a:spcAft>
                        <a:buNone/>
                      </a:pPr>
                      <a:r>
                        <a:rPr lang="en-US" sz="800">
                          <a:effectLst/>
                        </a:rPr>
                        <a:t>APPLY:</a:t>
                      </a:r>
                      <a:br>
                        <a:rPr lang="en-US" sz="800">
                          <a:effectLst/>
                        </a:rPr>
                      </a:br>
                      <a:r>
                        <a:rPr lang="en-US" sz="800">
                          <a:effectLst/>
                        </a:rPr>
                        <a:t>1. The job seeker clicks the Apply button on the job details page.</a:t>
                      </a:r>
                      <a:br>
                        <a:rPr lang="en-US" sz="800">
                          <a:effectLst/>
                        </a:rPr>
                      </a:br>
                      <a:r>
                        <a:rPr lang="en-US" sz="800">
                          <a:effectLst/>
                        </a:rPr>
                        <a:t>2. The system verifies the job is open and the user has a resume.</a:t>
                      </a:r>
                      <a:br>
                        <a:rPr lang="en-US" sz="800">
                          <a:effectLst/>
                        </a:rPr>
                      </a:br>
                      <a:r>
                        <a:rPr lang="en-US" sz="800">
                          <a:effectLst/>
                        </a:rPr>
                        <a:t>3. The system records the application with timestamp and resume reference.</a:t>
                      </a:r>
                      <a:br>
                        <a:rPr lang="en-US" sz="800">
                          <a:effectLst/>
                        </a:rPr>
                      </a:br>
                      <a:r>
                        <a:rPr lang="en-US" sz="800">
                          <a:effectLst/>
                        </a:rPr>
                        <a:t>4. The system updates the job seeker's applied jobs list.</a:t>
                      </a:r>
                      <a:br>
                        <a:rPr lang="en-US" sz="800">
                          <a:effectLst/>
                        </a:rPr>
                      </a:br>
                      <a:r>
                        <a:rPr lang="en-US" sz="800">
                          <a:effectLst/>
                        </a:rPr>
                        <a:t>5. The system notifies the employer.</a:t>
                      </a:r>
                      <a:br>
                        <a:rPr lang="en-US" sz="800">
                          <a:effectLst/>
                        </a:rPr>
                      </a:br>
                      <a:r>
                        <a:rPr lang="en-US" sz="800">
                          <a:effectLst/>
                        </a:rPr>
                        <a:t>6. The system displays a confirmation to the job seeker.</a:t>
                      </a:r>
                      <a:br>
                        <a:rPr lang="en-US" sz="800">
                          <a:effectLst/>
                        </a:rPr>
                      </a:br>
                      <a:br>
                        <a:rPr lang="en-US" sz="800">
                          <a:effectLst/>
                        </a:rPr>
                      </a:br>
                      <a:r>
                        <a:rPr lang="en-US" sz="800">
                          <a:effectLst/>
                        </a:rPr>
                        <a:t>WITHDRAW:</a:t>
                      </a:r>
                      <a:br>
                        <a:rPr lang="en-US" sz="800">
                          <a:effectLst/>
                        </a:rPr>
                      </a:br>
                      <a:r>
                        <a:rPr lang="en-US" sz="800">
                          <a:effectLst/>
                        </a:rPr>
                        <a:t>1. The job seeker navigates to Applied Jobs and selects an application.</a:t>
                      </a:r>
                      <a:br>
                        <a:rPr lang="en-US" sz="800">
                          <a:effectLst/>
                        </a:rPr>
                      </a:br>
                      <a:r>
                        <a:rPr lang="en-US" sz="800">
                          <a:effectLst/>
                        </a:rPr>
                        <a:t>2. The job seeker clicks Withdraw Application.</a:t>
                      </a:r>
                      <a:br>
                        <a:rPr lang="en-US" sz="800">
                          <a:effectLst/>
                        </a:rPr>
                      </a:br>
                      <a:r>
                        <a:rPr lang="en-US" sz="800">
                          <a:effectLst/>
                        </a:rPr>
                        <a:t>3. The system prompts for confirmation.</a:t>
                      </a:r>
                      <a:br>
                        <a:rPr lang="en-US" sz="800">
                          <a:effectLst/>
                        </a:rPr>
                      </a:br>
                      <a:r>
                        <a:rPr lang="en-US" sz="800">
                          <a:effectLst/>
                        </a:rPr>
                        <a:t>4. Upon confirmation, the system removes / marks the application as withdrawn.</a:t>
                      </a:r>
                      <a:br>
                        <a:rPr lang="en-US" sz="800">
                          <a:effectLst/>
                        </a:rPr>
                      </a:br>
                      <a:r>
                        <a:rPr lang="en-US" sz="800">
                          <a:effectLst/>
                        </a:rPr>
                        <a:t>5. The system notifies the employer of the withdrawal.</a:t>
                      </a:r>
                      <a:br>
                        <a:rPr lang="en-US" sz="800">
                          <a:effectLst/>
                        </a:rPr>
                      </a:br>
                      <a:r>
                        <a:rPr lang="en-US" sz="800">
                          <a:effectLst/>
                        </a:rPr>
                        <a:t>6. The system updates the seeker's dashboard.</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extLst>
                  <a:ext uri="{0D108BD9-81ED-4DB2-BD59-A6C34878D82A}">
                    <a16:rowId xmlns:a16="http://schemas.microsoft.com/office/drawing/2014/main" val="487075859"/>
                  </a:ext>
                </a:extLst>
              </a:tr>
              <a:tr h="435834">
                <a:tc>
                  <a:txBody>
                    <a:bodyPr/>
                    <a:lstStyle/>
                    <a:p>
                      <a:pPr>
                        <a:lnSpc>
                          <a:spcPct val="115000"/>
                        </a:lnSpc>
                        <a:spcAft>
                          <a:spcPts val="1000"/>
                        </a:spcAft>
                        <a:buNone/>
                      </a:pPr>
                      <a:r>
                        <a:rPr lang="en-US" sz="800">
                          <a:effectLst/>
                        </a:rPr>
                        <a:t>Post Conditions</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tc>
                  <a:txBody>
                    <a:bodyPr/>
                    <a:lstStyle/>
                    <a:p>
                      <a:pPr>
                        <a:lnSpc>
                          <a:spcPct val="115000"/>
                        </a:lnSpc>
                        <a:spcAft>
                          <a:spcPts val="1000"/>
                        </a:spcAft>
                        <a:buNone/>
                      </a:pPr>
                      <a:r>
                        <a:rPr lang="en-US" sz="800">
                          <a:effectLst/>
                        </a:rPr>
                        <a:t>1. The application is successfully submitted or withdrawn.</a:t>
                      </a:r>
                      <a:br>
                        <a:rPr lang="en-US" sz="800">
                          <a:effectLst/>
                        </a:rPr>
                      </a:br>
                      <a:r>
                        <a:rPr lang="en-US" sz="800">
                          <a:effectLst/>
                        </a:rPr>
                        <a:t>2. All relevant parties are notified.</a:t>
                      </a:r>
                      <a:br>
                        <a:rPr lang="en-US" sz="800">
                          <a:effectLst/>
                        </a:rPr>
                      </a:br>
                      <a:r>
                        <a:rPr lang="en-US" sz="800">
                          <a:effectLst/>
                        </a:rPr>
                        <a:t>3. Dashboard and statistics are updated.</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extLst>
                  <a:ext uri="{0D108BD9-81ED-4DB2-BD59-A6C34878D82A}">
                    <a16:rowId xmlns:a16="http://schemas.microsoft.com/office/drawing/2014/main" val="4070160072"/>
                  </a:ext>
                </a:extLst>
              </a:tr>
              <a:tr h="435834">
                <a:tc>
                  <a:txBody>
                    <a:bodyPr/>
                    <a:lstStyle/>
                    <a:p>
                      <a:pPr>
                        <a:lnSpc>
                          <a:spcPct val="115000"/>
                        </a:lnSpc>
                        <a:spcAft>
                          <a:spcPts val="1000"/>
                        </a:spcAft>
                        <a:buNone/>
                      </a:pPr>
                      <a:r>
                        <a:rPr lang="en-US" sz="800">
                          <a:effectLst/>
                        </a:rPr>
                        <a:t>Alternative Flows</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tc>
                  <a:txBody>
                    <a:bodyPr/>
                    <a:lstStyle/>
                    <a:p>
                      <a:pPr>
                        <a:lnSpc>
                          <a:spcPct val="115000"/>
                        </a:lnSpc>
                        <a:spcAft>
                          <a:spcPts val="1000"/>
                        </a:spcAft>
                        <a:buNone/>
                      </a:pPr>
                      <a:r>
                        <a:rPr lang="en-US" sz="800" dirty="0">
                          <a:effectLst/>
                        </a:rPr>
                        <a:t>1. Job is closed → system prevents application.</a:t>
                      </a:r>
                      <a:br>
                        <a:rPr lang="en-US" sz="800" dirty="0">
                          <a:effectLst/>
                        </a:rPr>
                      </a:br>
                      <a:r>
                        <a:rPr lang="en-US" sz="800" dirty="0">
                          <a:effectLst/>
                        </a:rPr>
                        <a:t>2. Already applied → system prevents duplicate application.</a:t>
                      </a:r>
                      <a:br>
                        <a:rPr lang="en-US" sz="800" dirty="0">
                          <a:effectLst/>
                        </a:rPr>
                      </a:br>
                      <a:r>
                        <a:rPr lang="en-US" sz="800" dirty="0">
                          <a:effectLst/>
                        </a:rPr>
                        <a:t>3. Withdrawal deadline passed → system denies withdrawal.</a:t>
                      </a:r>
                      <a:endParaRPr lang="en-IN" sz="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8097" marR="58097" marT="0" marB="0"/>
                </a:tc>
                <a:extLst>
                  <a:ext uri="{0D108BD9-81ED-4DB2-BD59-A6C34878D82A}">
                    <a16:rowId xmlns:a16="http://schemas.microsoft.com/office/drawing/2014/main" val="4148876723"/>
                  </a:ext>
                </a:extLst>
              </a:tr>
            </a:tbl>
          </a:graphicData>
        </a:graphic>
      </p:graphicFrame>
      <p:sp>
        <p:nvSpPr>
          <p:cNvPr id="15" name="TextBox 14">
            <a:extLst>
              <a:ext uri="{FF2B5EF4-FFF2-40B4-BE49-F238E27FC236}">
                <a16:creationId xmlns:a16="http://schemas.microsoft.com/office/drawing/2014/main" id="{FEBEAB26-7EBD-5B15-FCAD-F7E45593FF07}"/>
              </a:ext>
            </a:extLst>
          </p:cNvPr>
          <p:cNvSpPr txBox="1"/>
          <p:nvPr/>
        </p:nvSpPr>
        <p:spPr>
          <a:xfrm>
            <a:off x="182881" y="418744"/>
            <a:ext cx="5604733" cy="8022709"/>
          </a:xfrm>
          <a:prstGeom prst="rect">
            <a:avLst/>
          </a:prstGeom>
          <a:noFill/>
        </p:spPr>
        <p:txBody>
          <a:bodyPr wrap="square">
            <a:spAutoFit/>
          </a:bodyPr>
          <a:lstStyle/>
          <a:p>
            <a:pPr>
              <a:lnSpc>
                <a:spcPct val="100000"/>
              </a:lnSpc>
              <a:spcAft>
                <a:spcPts val="10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Use Case: Apply to Job / Withdraw Application</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graphicFrame>
        <p:nvGraphicFramePr>
          <p:cNvPr id="16" name="Table 15">
            <a:extLst>
              <a:ext uri="{FF2B5EF4-FFF2-40B4-BE49-F238E27FC236}">
                <a16:creationId xmlns:a16="http://schemas.microsoft.com/office/drawing/2014/main" id="{4BB70101-258E-A82A-956A-E467E5837F0D}"/>
              </a:ext>
            </a:extLst>
          </p:cNvPr>
          <p:cNvGraphicFramePr>
            <a:graphicFrameLocks noGrp="1"/>
          </p:cNvGraphicFramePr>
          <p:nvPr>
            <p:extLst>
              <p:ext uri="{D42A27DB-BD31-4B8C-83A1-F6EECF244321}">
                <p14:modId xmlns:p14="http://schemas.microsoft.com/office/powerpoint/2010/main" val="696118466"/>
              </p:ext>
            </p:extLst>
          </p:nvPr>
        </p:nvGraphicFramePr>
        <p:xfrm>
          <a:off x="6712770" y="995081"/>
          <a:ext cx="4442909" cy="5278211"/>
        </p:xfrm>
        <a:graphic>
          <a:graphicData uri="http://schemas.openxmlformats.org/drawingml/2006/table">
            <a:tbl>
              <a:tblPr firstRow="1" firstCol="1" bandRow="1">
                <a:tableStyleId>{5C22544A-7EE6-4342-B048-85BDC9FD1C3A}</a:tableStyleId>
              </a:tblPr>
              <a:tblGrid>
                <a:gridCol w="1396343">
                  <a:extLst>
                    <a:ext uri="{9D8B030D-6E8A-4147-A177-3AD203B41FA5}">
                      <a16:colId xmlns:a16="http://schemas.microsoft.com/office/drawing/2014/main" val="468894409"/>
                    </a:ext>
                  </a:extLst>
                </a:gridCol>
                <a:gridCol w="3046566">
                  <a:extLst>
                    <a:ext uri="{9D8B030D-6E8A-4147-A177-3AD203B41FA5}">
                      <a16:colId xmlns:a16="http://schemas.microsoft.com/office/drawing/2014/main" val="802295435"/>
                    </a:ext>
                  </a:extLst>
                </a:gridCol>
              </a:tblGrid>
              <a:tr h="152636">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UC-08</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7651919"/>
                  </a:ext>
                </a:extLst>
              </a:tr>
              <a:tr h="478953">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Analyzes the job seeker's resume skills against a job's requirements and displays a match percentage with a skill breakdown.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790654962"/>
                  </a:ext>
                </a:extLst>
              </a:tr>
              <a:tr h="152636">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System</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62708735"/>
                  </a:ext>
                </a:extLst>
              </a:tr>
              <a:tr h="152636">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33827187"/>
                  </a:ext>
                </a:extLst>
              </a:tr>
              <a:tr h="805271">
                <a:tc>
                  <a:txBody>
                    <a:bodyPr/>
                    <a:lstStyle/>
                    <a:p>
                      <a:pPr>
                        <a:lnSpc>
                          <a:spcPct val="115000"/>
                        </a:lnSpc>
                        <a:spcAft>
                          <a:spcPts val="1000"/>
                        </a:spcAft>
                        <a:buNone/>
                      </a:pPr>
                      <a:r>
                        <a:rPr lang="en-US" sz="1000" dirty="0">
                          <a:effectLst/>
                        </a:rPr>
                        <a:t>Main Flow</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seeker has uploaded a PDF resume.</a:t>
                      </a:r>
                      <a:br>
                        <a:rPr lang="en-US" sz="1000">
                          <a:effectLst/>
                        </a:rPr>
                      </a:br>
                      <a:r>
                        <a:rPr lang="en-US" sz="1000">
                          <a:effectLst/>
                        </a:rPr>
                        <a:t>2. The job posting has defined skill requirements.</a:t>
                      </a:r>
                      <a:br>
                        <a:rPr lang="en-US" sz="1000">
                          <a:effectLst/>
                        </a:rPr>
                      </a:br>
                      <a:r>
                        <a:rPr lang="en-US" sz="1000">
                          <a:effectLst/>
                        </a:rPr>
                        <a:t>3. The user is viewing job details (seeker) or an application (employer).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836392801"/>
                  </a:ext>
                </a:extLst>
              </a:tr>
              <a:tr h="1784223">
                <a:tc>
                  <a:txBody>
                    <a:bodyPr/>
                    <a:lstStyle/>
                    <a:p>
                      <a:endParaRPr lang="en-IN" dirty="0"/>
                    </a:p>
                  </a:txBody>
                  <a:tcPr marL="68580" marR="68580" marT="0" marB="0"/>
                </a:tc>
                <a:tc>
                  <a:txBody>
                    <a:bodyPr/>
                    <a:lstStyle/>
                    <a:p>
                      <a:pPr>
                        <a:lnSpc>
                          <a:spcPct val="115000"/>
                        </a:lnSpc>
                        <a:spcAft>
                          <a:spcPts val="1000"/>
                        </a:spcAft>
                        <a:buNone/>
                      </a:pPr>
                      <a:r>
                        <a:rPr lang="en-US" sz="1000">
                          <a:effectLst/>
                        </a:rPr>
                        <a:t>1. The system extracts skills from the seeker's resume.</a:t>
                      </a:r>
                      <a:br>
                        <a:rPr lang="en-US" sz="1000">
                          <a:effectLst/>
                        </a:rPr>
                      </a:br>
                      <a:r>
                        <a:rPr lang="en-US" sz="1000">
                          <a:effectLst/>
                        </a:rPr>
                        <a:t>2. The system compares extracted skills with the job's required skills.</a:t>
                      </a:r>
                      <a:br>
                        <a:rPr lang="en-US" sz="1000">
                          <a:effectLst/>
                        </a:rPr>
                      </a:br>
                      <a:r>
                        <a:rPr lang="en-US" sz="1000">
                          <a:effectLst/>
                        </a:rPr>
                        <a:t>3. The system calculates a match percentage score.</a:t>
                      </a:r>
                      <a:br>
                        <a:rPr lang="en-US" sz="1000">
                          <a:effectLst/>
                        </a:rPr>
                      </a:br>
                      <a:r>
                        <a:rPr lang="en-US" sz="1000">
                          <a:effectLst/>
                        </a:rPr>
                        <a:t>4. The system generates a visual breakdown (matched skills, missing skills, additional skills).</a:t>
                      </a:r>
                      <a:br>
                        <a:rPr lang="en-US" sz="1000">
                          <a:effectLst/>
                        </a:rPr>
                      </a:br>
                      <a:r>
                        <a:rPr lang="en-US" sz="1000">
                          <a:effectLst/>
                        </a:rPr>
                        <a:t>5. The system displays the score and breakdown to the user.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95802211"/>
                  </a:ext>
                </a:extLst>
              </a:tr>
              <a:tr h="642112">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skill match score is calculated and displayed.</a:t>
                      </a:r>
                      <a:br>
                        <a:rPr lang="en-US" sz="1000">
                          <a:effectLst/>
                        </a:rPr>
                      </a:br>
                      <a:r>
                        <a:rPr lang="en-US" sz="1000">
                          <a:effectLst/>
                        </a:rPr>
                        <a:t>2. The user can make an informed decision based on the score.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86986947"/>
                  </a:ext>
                </a:extLst>
              </a:tr>
              <a:tr h="968429">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No resume uploaded → system prompts to upload a resume.</a:t>
                      </a:r>
                      <a:br>
                        <a:rPr lang="en-US" sz="1000" dirty="0">
                          <a:effectLst/>
                        </a:rPr>
                      </a:br>
                      <a:r>
                        <a:rPr lang="en-US" sz="1000" dirty="0">
                          <a:effectLst/>
                        </a:rPr>
                        <a:t>2. No skills detected in resume → system shows a low score with a note.</a:t>
                      </a:r>
                      <a:br>
                        <a:rPr lang="en-US" sz="1000" dirty="0">
                          <a:effectLst/>
                        </a:rPr>
                      </a:br>
                      <a:r>
                        <a:rPr lang="en-US" sz="1000" dirty="0">
                          <a:effectLst/>
                        </a:rPr>
                        <a:t>3. Job has no skill requirements → match score is not applicable.</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563097216"/>
                  </a:ext>
                </a:extLst>
              </a:tr>
            </a:tbl>
          </a:graphicData>
        </a:graphic>
      </p:graphicFrame>
      <p:sp>
        <p:nvSpPr>
          <p:cNvPr id="18" name="TextBox 17">
            <a:extLst>
              <a:ext uri="{FF2B5EF4-FFF2-40B4-BE49-F238E27FC236}">
                <a16:creationId xmlns:a16="http://schemas.microsoft.com/office/drawing/2014/main" id="{0DCFED52-4803-83D7-1C97-CCBFEDA17989}"/>
              </a:ext>
            </a:extLst>
          </p:cNvPr>
          <p:cNvSpPr txBox="1"/>
          <p:nvPr/>
        </p:nvSpPr>
        <p:spPr>
          <a:xfrm>
            <a:off x="6314739" y="0"/>
            <a:ext cx="5248501" cy="5293757"/>
          </a:xfrm>
          <a:prstGeom prst="rect">
            <a:avLst/>
          </a:prstGeom>
          <a:noFill/>
        </p:spPr>
        <p:txBody>
          <a:bodyPr wrap="square">
            <a:spAutoFit/>
          </a:bodyPr>
          <a:lstStyle/>
          <a:p>
            <a:pPr>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 </a:t>
            </a:r>
            <a:endParaRPr lang="en-IN" sz="1800" dirty="0">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Use Case: View Skill Match Scoring (&lt;&lt;extend&gt;&gt;)</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 </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012023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A01C80C9-6CF8-56E4-6D92-4BCF6627EB4B}"/>
              </a:ext>
            </a:extLst>
          </p:cNvPr>
          <p:cNvSpPr txBox="1"/>
          <p:nvPr/>
        </p:nvSpPr>
        <p:spPr>
          <a:xfrm>
            <a:off x="10919460" y="6492240"/>
            <a:ext cx="731520" cy="22860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900"/>
            </a:pPr>
            <a:r>
              <a:t>28</a:t>
            </a:r>
          </a:p>
        </p:txBody>
      </p:sp>
      <p:graphicFrame>
        <p:nvGraphicFramePr>
          <p:cNvPr id="2" name="Table 1">
            <a:extLst>
              <a:ext uri="{FF2B5EF4-FFF2-40B4-BE49-F238E27FC236}">
                <a16:creationId xmlns:a16="http://schemas.microsoft.com/office/drawing/2014/main" id="{A399F895-98DC-5DF8-495F-CCED29F0CD22}"/>
              </a:ext>
            </a:extLst>
          </p:cNvPr>
          <p:cNvGraphicFramePr>
            <a:graphicFrameLocks noGrp="1"/>
          </p:cNvGraphicFramePr>
          <p:nvPr>
            <p:extLst>
              <p:ext uri="{D42A27DB-BD31-4B8C-83A1-F6EECF244321}">
                <p14:modId xmlns:p14="http://schemas.microsoft.com/office/powerpoint/2010/main" val="3744334004"/>
              </p:ext>
            </p:extLst>
          </p:nvPr>
        </p:nvGraphicFramePr>
        <p:xfrm>
          <a:off x="69408" y="1194671"/>
          <a:ext cx="5909300" cy="4551156"/>
        </p:xfrm>
        <a:graphic>
          <a:graphicData uri="http://schemas.openxmlformats.org/drawingml/2006/table">
            <a:tbl>
              <a:tblPr firstRow="1" firstCol="1" bandRow="1">
                <a:tableStyleId>{5C22544A-7EE6-4342-B048-85BDC9FD1C3A}</a:tableStyleId>
              </a:tblPr>
              <a:tblGrid>
                <a:gridCol w="1857208">
                  <a:extLst>
                    <a:ext uri="{9D8B030D-6E8A-4147-A177-3AD203B41FA5}">
                      <a16:colId xmlns:a16="http://schemas.microsoft.com/office/drawing/2014/main" val="2457154299"/>
                    </a:ext>
                  </a:extLst>
                </a:gridCol>
                <a:gridCol w="4052092">
                  <a:extLst>
                    <a:ext uri="{9D8B030D-6E8A-4147-A177-3AD203B41FA5}">
                      <a16:colId xmlns:a16="http://schemas.microsoft.com/office/drawing/2014/main" val="3149037958"/>
                    </a:ext>
                  </a:extLst>
                </a:gridCol>
              </a:tblGrid>
              <a:tr h="198177">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UC-09</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23957881"/>
                  </a:ext>
                </a:extLst>
              </a:tr>
              <a:tr h="410015">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a job seeker to save or bookmark job postings for quick access later from their dashboard.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870274119"/>
                  </a:ext>
                </a:extLst>
              </a:tr>
              <a:tr h="198177">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Job Seeker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00205867"/>
                  </a:ext>
                </a:extLst>
              </a:tr>
              <a:tr h="198177">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85952246"/>
                  </a:ext>
                </a:extLst>
              </a:tr>
              <a:tr h="410015">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seeker is logged into the system.</a:t>
                      </a:r>
                      <a:br>
                        <a:rPr lang="en-US" sz="1000">
                          <a:effectLst/>
                        </a:rPr>
                      </a:br>
                      <a:r>
                        <a:rPr lang="en-US" sz="1000">
                          <a:effectLst/>
                        </a:rPr>
                        <a:t>2. The job seeker is viewing a job listing or job details page.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40425675"/>
                  </a:ext>
                </a:extLst>
              </a:tr>
              <a:tr h="2104726">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SAVE:</a:t>
                      </a:r>
                      <a:br>
                        <a:rPr lang="en-US" sz="1000">
                          <a:effectLst/>
                        </a:rPr>
                      </a:br>
                      <a:r>
                        <a:rPr lang="en-US" sz="1000">
                          <a:effectLst/>
                        </a:rPr>
                        <a:t>1. The job seeker clicks the Save / Bookmark icon on a job listing.</a:t>
                      </a:r>
                      <a:br>
                        <a:rPr lang="en-US" sz="1000">
                          <a:effectLst/>
                        </a:rPr>
                      </a:br>
                      <a:r>
                        <a:rPr lang="en-US" sz="1000">
                          <a:effectLst/>
                        </a:rPr>
                        <a:t>2. The system adds the job to the seeker's saved jobs list.</a:t>
                      </a:r>
                      <a:br>
                        <a:rPr lang="en-US" sz="1000">
                          <a:effectLst/>
                        </a:rPr>
                      </a:br>
                      <a:r>
                        <a:rPr lang="en-US" sz="1000">
                          <a:effectLst/>
                        </a:rPr>
                        <a:t>3. The system updates the bookmark icon state to 'saved'.</a:t>
                      </a:r>
                      <a:br>
                        <a:rPr lang="en-US" sz="1000">
                          <a:effectLst/>
                        </a:rPr>
                      </a:br>
                      <a:r>
                        <a:rPr lang="en-US" sz="1000">
                          <a:effectLst/>
                        </a:rPr>
                        <a:t>4. The system displays a confirmation message.</a:t>
                      </a:r>
                      <a:br>
                        <a:rPr lang="en-US" sz="1000">
                          <a:effectLst/>
                        </a:rPr>
                      </a:br>
                      <a:br>
                        <a:rPr lang="en-US" sz="1000">
                          <a:effectLst/>
                        </a:rPr>
                      </a:br>
                      <a:r>
                        <a:rPr lang="en-US" sz="1000">
                          <a:effectLst/>
                        </a:rPr>
                        <a:t>UNSAVE:</a:t>
                      </a:r>
                      <a:br>
                        <a:rPr lang="en-US" sz="1000">
                          <a:effectLst/>
                        </a:rPr>
                      </a:br>
                      <a:r>
                        <a:rPr lang="en-US" sz="1000">
                          <a:effectLst/>
                        </a:rPr>
                        <a:t>1. The job seeker clicks the saved bookmark icon again.</a:t>
                      </a:r>
                      <a:br>
                        <a:rPr lang="en-US" sz="1000">
                          <a:effectLst/>
                        </a:rPr>
                      </a:br>
                      <a:r>
                        <a:rPr lang="en-US" sz="1000">
                          <a:effectLst/>
                        </a:rPr>
                        <a:t>2. The system removes the job from the saved list.</a:t>
                      </a:r>
                      <a:br>
                        <a:rPr lang="en-US" sz="1000">
                          <a:effectLst/>
                        </a:rPr>
                      </a:br>
                      <a:r>
                        <a:rPr lang="en-US" sz="1000">
                          <a:effectLst/>
                        </a:rPr>
                        <a:t>3. The system updates the icon and confirms removal.</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48020379"/>
                  </a:ext>
                </a:extLst>
              </a:tr>
              <a:tr h="410015">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is successfully added to or removed from the saved jobs list.</a:t>
                      </a:r>
                      <a:br>
                        <a:rPr lang="en-US" sz="1000">
                          <a:effectLst/>
                        </a:rPr>
                      </a:br>
                      <a:r>
                        <a:rPr lang="en-US" sz="1000">
                          <a:effectLst/>
                        </a:rPr>
                        <a:t>2. The saved jobs list on the dashboard is updated.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11942127"/>
                  </a:ext>
                </a:extLst>
              </a:tr>
              <a:tr h="621854">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Job already saved → system removes the bookmark (toggle behavior).</a:t>
                      </a:r>
                      <a:br>
                        <a:rPr lang="en-US" sz="1000" dirty="0">
                          <a:effectLst/>
                        </a:rPr>
                      </a:br>
                      <a:r>
                        <a:rPr lang="en-US" sz="1000" dirty="0">
                          <a:effectLst/>
                        </a:rPr>
                        <a:t>2. Job is closed or deleted → system removes it from saved list and notifies the user.</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62901434"/>
                  </a:ext>
                </a:extLst>
              </a:tr>
            </a:tbl>
          </a:graphicData>
        </a:graphic>
      </p:graphicFrame>
      <p:sp>
        <p:nvSpPr>
          <p:cNvPr id="11" name="TextBox 10">
            <a:extLst>
              <a:ext uri="{FF2B5EF4-FFF2-40B4-BE49-F238E27FC236}">
                <a16:creationId xmlns:a16="http://schemas.microsoft.com/office/drawing/2014/main" id="{3EBA6ECE-D7AC-5E4D-70B5-9E8F890BC480}"/>
              </a:ext>
            </a:extLst>
          </p:cNvPr>
          <p:cNvSpPr txBox="1"/>
          <p:nvPr/>
        </p:nvSpPr>
        <p:spPr>
          <a:xfrm>
            <a:off x="1807285" y="623945"/>
            <a:ext cx="5626249" cy="5719514"/>
          </a:xfrm>
          <a:prstGeom prst="rect">
            <a:avLst/>
          </a:prstGeom>
          <a:noFill/>
        </p:spPr>
        <p:txBody>
          <a:bodyPr wrap="square">
            <a:spAutoFit/>
          </a:bodyPr>
          <a:lstStyle/>
          <a:p>
            <a:pPr>
              <a:lnSpc>
                <a:spcPct val="100000"/>
              </a:lnSpc>
              <a:spcAft>
                <a:spcPts val="1000"/>
              </a:spcAft>
              <a:buNone/>
            </a:pPr>
            <a:r>
              <a:rPr lang="en-US" sz="1800" b="1">
                <a:solidFill>
                  <a:schemeClr val="tx1"/>
                </a:solidFill>
                <a:effectLst/>
                <a:latin typeface="+mn-lt"/>
                <a:ea typeface="MS Mincho" panose="02020609040205080304" pitchFamily="49" charset="-128"/>
                <a:cs typeface="Times New Roman" panose="02020603050405020304" pitchFamily="18" charset="0"/>
              </a:rPr>
              <a:t>Use Case: Bookmark / Save Jobs</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 </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1FC56492-AA6D-CE61-0AB0-7419143A2487}"/>
              </a:ext>
            </a:extLst>
          </p:cNvPr>
          <p:cNvGraphicFramePr>
            <a:graphicFrameLocks noGrp="1"/>
          </p:cNvGraphicFramePr>
          <p:nvPr>
            <p:extLst>
              <p:ext uri="{D42A27DB-BD31-4B8C-83A1-F6EECF244321}">
                <p14:modId xmlns:p14="http://schemas.microsoft.com/office/powerpoint/2010/main" val="1784950940"/>
              </p:ext>
            </p:extLst>
          </p:nvPr>
        </p:nvGraphicFramePr>
        <p:xfrm>
          <a:off x="6341633" y="1235479"/>
          <a:ext cx="5169049" cy="5107982"/>
        </p:xfrm>
        <a:graphic>
          <a:graphicData uri="http://schemas.openxmlformats.org/drawingml/2006/table">
            <a:tbl>
              <a:tblPr firstRow="1" firstCol="1" bandRow="1">
                <a:tableStyleId>{5C22544A-7EE6-4342-B048-85BDC9FD1C3A}</a:tableStyleId>
              </a:tblPr>
              <a:tblGrid>
                <a:gridCol w="1624558">
                  <a:extLst>
                    <a:ext uri="{9D8B030D-6E8A-4147-A177-3AD203B41FA5}">
                      <a16:colId xmlns:a16="http://schemas.microsoft.com/office/drawing/2014/main" val="823848707"/>
                    </a:ext>
                  </a:extLst>
                </a:gridCol>
                <a:gridCol w="3544491">
                  <a:extLst>
                    <a:ext uri="{9D8B030D-6E8A-4147-A177-3AD203B41FA5}">
                      <a16:colId xmlns:a16="http://schemas.microsoft.com/office/drawing/2014/main" val="4189424562"/>
                    </a:ext>
                  </a:extLst>
                </a:gridCol>
              </a:tblGrid>
              <a:tr h="187512">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UC-10</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74804023"/>
                  </a:ext>
                </a:extLst>
              </a:tr>
              <a:tr h="387950">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a job seeker to update their personal profile information and upload or change their profile photo.</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32306765"/>
                  </a:ext>
                </a:extLst>
              </a:tr>
              <a:tr h="187512">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Job Seeker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29513981"/>
                  </a:ext>
                </a:extLst>
              </a:tr>
              <a:tr h="187512">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90987831"/>
                  </a:ext>
                </a:extLst>
              </a:tr>
              <a:tr h="387950">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seeker is logged into the system.</a:t>
                      </a:r>
                      <a:br>
                        <a:rPr lang="en-US" sz="1000">
                          <a:effectLst/>
                        </a:rPr>
                      </a:br>
                      <a:r>
                        <a:rPr lang="en-US" sz="1000">
                          <a:effectLst/>
                        </a:rPr>
                        <a:t>2. The job seeker has navigated to the profile settings page.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2486086"/>
                  </a:ext>
                </a:extLst>
              </a:tr>
              <a:tr h="2191893">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seeker clicks Edit Profile.</a:t>
                      </a:r>
                      <a:br>
                        <a:rPr lang="en-US" sz="1000">
                          <a:effectLst/>
                        </a:rPr>
                      </a:br>
                      <a:r>
                        <a:rPr lang="en-US" sz="1000">
                          <a:effectLst/>
                        </a:rPr>
                        <a:t>2. The system displays the current profile information in an editable form.</a:t>
                      </a:r>
                      <a:br>
                        <a:rPr lang="en-US" sz="1000">
                          <a:effectLst/>
                        </a:rPr>
                      </a:br>
                      <a:r>
                        <a:rPr lang="en-US" sz="1000">
                          <a:effectLst/>
                        </a:rPr>
                        <a:t>3. The job seeker updates fields (name, contact, skills, experience, education, etc.).</a:t>
                      </a:r>
                      <a:br>
                        <a:rPr lang="en-US" sz="1000">
                          <a:effectLst/>
                        </a:rPr>
                      </a:br>
                      <a:r>
                        <a:rPr lang="en-US" sz="1000">
                          <a:effectLst/>
                        </a:rPr>
                        <a:t>4. The job seeker optionally uploads a new profile photo.</a:t>
                      </a:r>
                      <a:br>
                        <a:rPr lang="en-US" sz="1000">
                          <a:effectLst/>
                        </a:rPr>
                      </a:br>
                      <a:r>
                        <a:rPr lang="en-US" sz="1000">
                          <a:effectLst/>
                        </a:rPr>
                        <a:t>5. The job seeker clicks Save Changes.</a:t>
                      </a:r>
                      <a:br>
                        <a:rPr lang="en-US" sz="1000">
                          <a:effectLst/>
                        </a:rPr>
                      </a:br>
                      <a:r>
                        <a:rPr lang="en-US" sz="1000">
                          <a:effectLst/>
                        </a:rPr>
                        <a:t>6. The system validates the updated information.</a:t>
                      </a:r>
                      <a:br>
                        <a:rPr lang="en-US" sz="1000">
                          <a:effectLst/>
                        </a:rPr>
                      </a:br>
                      <a:r>
                        <a:rPr lang="en-US" sz="1000">
                          <a:effectLst/>
                        </a:rPr>
                        <a:t>7. The system saves the changes to the database and updates the photo file.</a:t>
                      </a:r>
                      <a:br>
                        <a:rPr lang="en-US" sz="1000">
                          <a:effectLst/>
                        </a:rPr>
                      </a:br>
                      <a:r>
                        <a:rPr lang="en-US" sz="1000">
                          <a:effectLst/>
                        </a:rPr>
                        <a:t>8. The system displays a success confirmation.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76042311"/>
                  </a:ext>
                </a:extLst>
              </a:tr>
              <a:tr h="588388">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profile information and/or photo are successfully updated.</a:t>
                      </a:r>
                      <a:br>
                        <a:rPr lang="en-US" sz="1000">
                          <a:effectLst/>
                        </a:rPr>
                      </a:br>
                      <a:r>
                        <a:rPr lang="en-US" sz="1000">
                          <a:effectLst/>
                        </a:rPr>
                        <a:t>2. The updated profile is reflected across the system (dashboard, applications).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35734631"/>
                  </a:ext>
                </a:extLst>
              </a:tr>
              <a:tr h="989265">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Invalid input format → system highlights errors and requests correction.</a:t>
                      </a:r>
                      <a:br>
                        <a:rPr lang="en-US" sz="1000" dirty="0">
                          <a:effectLst/>
                        </a:rPr>
                      </a:br>
                      <a:r>
                        <a:rPr lang="en-US" sz="1000" dirty="0">
                          <a:effectLst/>
                        </a:rPr>
                        <a:t>2. Photo file too large or wrong format → system rejects and specifies requirements.</a:t>
                      </a:r>
                      <a:br>
                        <a:rPr lang="en-US" sz="1000" dirty="0">
                          <a:effectLst/>
                        </a:rPr>
                      </a:br>
                      <a:r>
                        <a:rPr lang="en-US" sz="1000" dirty="0">
                          <a:effectLst/>
                        </a:rPr>
                        <a:t>3. Database update fails → system shows error and allows retry.</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74374130"/>
                  </a:ext>
                </a:extLst>
              </a:tr>
            </a:tbl>
          </a:graphicData>
        </a:graphic>
      </p:graphicFrame>
      <p:sp>
        <p:nvSpPr>
          <p:cNvPr id="14" name="TextBox 13">
            <a:extLst>
              <a:ext uri="{FF2B5EF4-FFF2-40B4-BE49-F238E27FC236}">
                <a16:creationId xmlns:a16="http://schemas.microsoft.com/office/drawing/2014/main" id="{A0A32F53-D007-5902-958F-C34F95D25FB1}"/>
              </a:ext>
            </a:extLst>
          </p:cNvPr>
          <p:cNvSpPr txBox="1"/>
          <p:nvPr/>
        </p:nvSpPr>
        <p:spPr>
          <a:xfrm>
            <a:off x="6213294" y="646800"/>
            <a:ext cx="4921455" cy="4975721"/>
          </a:xfrm>
          <a:prstGeom prst="rect">
            <a:avLst/>
          </a:prstGeom>
          <a:noFill/>
        </p:spPr>
        <p:txBody>
          <a:bodyPr wrap="square">
            <a:spAutoFit/>
          </a:bodyPr>
          <a:lstStyle/>
          <a:p>
            <a:pPr>
              <a:lnSpc>
                <a:spcPct val="100000"/>
              </a:lnSpc>
              <a:spcAft>
                <a:spcPts val="10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Use Case: Update Profile &amp; Photo</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261478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982EC796-B96D-4FE1-666C-13BFB56EAEE7}"/>
              </a:ext>
            </a:extLst>
          </p:cNvPr>
          <p:cNvSpPr txBox="1"/>
          <p:nvPr/>
        </p:nvSpPr>
        <p:spPr>
          <a:xfrm>
            <a:off x="10919460" y="6492240"/>
            <a:ext cx="731520" cy="22860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900"/>
            </a:pPr>
            <a:r>
              <a:t>29</a:t>
            </a:r>
          </a:p>
        </p:txBody>
      </p:sp>
      <p:graphicFrame>
        <p:nvGraphicFramePr>
          <p:cNvPr id="2" name="Table 1">
            <a:extLst>
              <a:ext uri="{FF2B5EF4-FFF2-40B4-BE49-F238E27FC236}">
                <a16:creationId xmlns:a16="http://schemas.microsoft.com/office/drawing/2014/main" id="{531EFEB6-629D-A00E-3E1D-E82A9A3EA385}"/>
              </a:ext>
            </a:extLst>
          </p:cNvPr>
          <p:cNvGraphicFramePr>
            <a:graphicFrameLocks noGrp="1"/>
          </p:cNvGraphicFramePr>
          <p:nvPr>
            <p:extLst>
              <p:ext uri="{D42A27DB-BD31-4B8C-83A1-F6EECF244321}">
                <p14:modId xmlns:p14="http://schemas.microsoft.com/office/powerpoint/2010/main" val="711274165"/>
              </p:ext>
            </p:extLst>
          </p:nvPr>
        </p:nvGraphicFramePr>
        <p:xfrm>
          <a:off x="112770" y="1980533"/>
          <a:ext cx="6573107" cy="3665781"/>
        </p:xfrm>
        <a:graphic>
          <a:graphicData uri="http://schemas.openxmlformats.org/drawingml/2006/table">
            <a:tbl>
              <a:tblPr firstRow="1" firstCol="1" bandRow="1">
                <a:tableStyleId>{5C22544A-7EE6-4342-B048-85BDC9FD1C3A}</a:tableStyleId>
              </a:tblPr>
              <a:tblGrid>
                <a:gridCol w="2065834">
                  <a:extLst>
                    <a:ext uri="{9D8B030D-6E8A-4147-A177-3AD203B41FA5}">
                      <a16:colId xmlns:a16="http://schemas.microsoft.com/office/drawing/2014/main" val="2236393234"/>
                    </a:ext>
                  </a:extLst>
                </a:gridCol>
                <a:gridCol w="4507273">
                  <a:extLst>
                    <a:ext uri="{9D8B030D-6E8A-4147-A177-3AD203B41FA5}">
                      <a16:colId xmlns:a16="http://schemas.microsoft.com/office/drawing/2014/main" val="209390942"/>
                    </a:ext>
                  </a:extLst>
                </a:gridCol>
              </a:tblGrid>
              <a:tr h="156724">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UC-10</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52607316"/>
                  </a:ext>
                </a:extLst>
              </a:tr>
              <a:tr h="324252">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a job seeker to update their personal profile information and upload or change their profile photo.</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79790721"/>
                  </a:ext>
                </a:extLst>
              </a:tr>
              <a:tr h="156724">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Job Seeker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78104124"/>
                  </a:ext>
                </a:extLst>
              </a:tr>
              <a:tr h="156724">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30421364"/>
                  </a:ext>
                </a:extLst>
              </a:tr>
              <a:tr h="324252">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seeker is logged into the system.</a:t>
                      </a:r>
                      <a:br>
                        <a:rPr lang="en-US" sz="1000">
                          <a:effectLst/>
                        </a:rPr>
                      </a:br>
                      <a:r>
                        <a:rPr lang="en-US" sz="1000">
                          <a:effectLst/>
                        </a:rPr>
                        <a:t>2. The job seeker has navigated to the profile settings page.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51077537"/>
                  </a:ext>
                </a:extLst>
              </a:tr>
              <a:tr h="1496950">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seeker clicks Edit Profile.</a:t>
                      </a:r>
                      <a:br>
                        <a:rPr lang="en-US" sz="1000">
                          <a:effectLst/>
                        </a:rPr>
                      </a:br>
                      <a:r>
                        <a:rPr lang="en-US" sz="1000">
                          <a:effectLst/>
                        </a:rPr>
                        <a:t>2. The system displays the current profile information in an editable form.</a:t>
                      </a:r>
                      <a:br>
                        <a:rPr lang="en-US" sz="1000">
                          <a:effectLst/>
                        </a:rPr>
                      </a:br>
                      <a:r>
                        <a:rPr lang="en-US" sz="1000">
                          <a:effectLst/>
                        </a:rPr>
                        <a:t>3. The job seeker updates fields (name, contact, skills, experience, education, etc.).</a:t>
                      </a:r>
                      <a:br>
                        <a:rPr lang="en-US" sz="1000">
                          <a:effectLst/>
                        </a:rPr>
                      </a:br>
                      <a:r>
                        <a:rPr lang="en-US" sz="1000">
                          <a:effectLst/>
                        </a:rPr>
                        <a:t>4. The job seeker optionally uploads a new profile photo.</a:t>
                      </a:r>
                      <a:br>
                        <a:rPr lang="en-US" sz="1000">
                          <a:effectLst/>
                        </a:rPr>
                      </a:br>
                      <a:r>
                        <a:rPr lang="en-US" sz="1000">
                          <a:effectLst/>
                        </a:rPr>
                        <a:t>5. The job seeker clicks Save Changes.</a:t>
                      </a:r>
                      <a:br>
                        <a:rPr lang="en-US" sz="1000">
                          <a:effectLst/>
                        </a:rPr>
                      </a:br>
                      <a:r>
                        <a:rPr lang="en-US" sz="1000">
                          <a:effectLst/>
                        </a:rPr>
                        <a:t>6. The system validates the updated information.</a:t>
                      </a:r>
                      <a:br>
                        <a:rPr lang="en-US" sz="1000">
                          <a:effectLst/>
                        </a:rPr>
                      </a:br>
                      <a:r>
                        <a:rPr lang="en-US" sz="1000">
                          <a:effectLst/>
                        </a:rPr>
                        <a:t>7. The system saves the changes to the database and updates the photo file.</a:t>
                      </a:r>
                      <a:br>
                        <a:rPr lang="en-US" sz="1000">
                          <a:effectLst/>
                        </a:rPr>
                      </a:br>
                      <a:r>
                        <a:rPr lang="en-US" sz="1000">
                          <a:effectLst/>
                        </a:rPr>
                        <a:t>8. The system displays a success confirmation.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81550460"/>
                  </a:ext>
                </a:extLst>
              </a:tr>
              <a:tr h="324252">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profile information and/or photo are successfully updated.</a:t>
                      </a:r>
                      <a:br>
                        <a:rPr lang="en-US" sz="1000">
                          <a:effectLst/>
                        </a:rPr>
                      </a:br>
                      <a:r>
                        <a:rPr lang="en-US" sz="1000">
                          <a:effectLst/>
                        </a:rPr>
                        <a:t>2. The updated profile is reflected across the system (dashboard, applications).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504908972"/>
                  </a:ext>
                </a:extLst>
              </a:tr>
              <a:tr h="659309">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Invalid input format → system highlights errors and requests correction.</a:t>
                      </a:r>
                      <a:br>
                        <a:rPr lang="en-US" sz="1000" dirty="0">
                          <a:effectLst/>
                        </a:rPr>
                      </a:br>
                      <a:r>
                        <a:rPr lang="en-US" sz="1000" dirty="0">
                          <a:effectLst/>
                        </a:rPr>
                        <a:t>2. Photo file too large or wrong format → system rejects and specifies requirements.</a:t>
                      </a:r>
                      <a:br>
                        <a:rPr lang="en-US" sz="1000" dirty="0">
                          <a:effectLst/>
                        </a:rPr>
                      </a:br>
                      <a:r>
                        <a:rPr lang="en-US" sz="1000" dirty="0">
                          <a:effectLst/>
                        </a:rPr>
                        <a:t>3. Database update fails → system shows error and allows retry.</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48712806"/>
                  </a:ext>
                </a:extLst>
              </a:tr>
            </a:tbl>
          </a:graphicData>
        </a:graphic>
      </p:graphicFrame>
      <p:sp>
        <p:nvSpPr>
          <p:cNvPr id="11" name="TextBox 10">
            <a:extLst>
              <a:ext uri="{FF2B5EF4-FFF2-40B4-BE49-F238E27FC236}">
                <a16:creationId xmlns:a16="http://schemas.microsoft.com/office/drawing/2014/main" id="{24EDBF98-9E05-0556-55ED-33994B231362}"/>
              </a:ext>
            </a:extLst>
          </p:cNvPr>
          <p:cNvSpPr txBox="1"/>
          <p:nvPr/>
        </p:nvSpPr>
        <p:spPr>
          <a:xfrm>
            <a:off x="112770" y="1325562"/>
            <a:ext cx="5879239" cy="4975721"/>
          </a:xfrm>
          <a:prstGeom prst="rect">
            <a:avLst/>
          </a:prstGeom>
          <a:noFill/>
        </p:spPr>
        <p:txBody>
          <a:bodyPr wrap="square">
            <a:spAutoFit/>
          </a:bodyPr>
          <a:lstStyle/>
          <a:p>
            <a:pPr>
              <a:lnSpc>
                <a:spcPct val="100000"/>
              </a:lnSpc>
              <a:spcAft>
                <a:spcPts val="10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Use Case: Update Profile &amp; Photo</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A393991B-8B8D-6F60-4159-25BD932518C4}"/>
              </a:ext>
            </a:extLst>
          </p:cNvPr>
          <p:cNvGraphicFramePr>
            <a:graphicFrameLocks noGrp="1"/>
          </p:cNvGraphicFramePr>
          <p:nvPr>
            <p:extLst>
              <p:ext uri="{D42A27DB-BD31-4B8C-83A1-F6EECF244321}">
                <p14:modId xmlns:p14="http://schemas.microsoft.com/office/powerpoint/2010/main" val="1828335315"/>
              </p:ext>
            </p:extLst>
          </p:nvPr>
        </p:nvGraphicFramePr>
        <p:xfrm>
          <a:off x="7153834" y="1325561"/>
          <a:ext cx="4384177" cy="4975721"/>
        </p:xfrm>
        <a:graphic>
          <a:graphicData uri="http://schemas.openxmlformats.org/drawingml/2006/table">
            <a:tbl>
              <a:tblPr firstRow="1" firstCol="1" bandRow="1">
                <a:tableStyleId>{5C22544A-7EE6-4342-B048-85BDC9FD1C3A}</a:tableStyleId>
              </a:tblPr>
              <a:tblGrid>
                <a:gridCol w="1377884">
                  <a:extLst>
                    <a:ext uri="{9D8B030D-6E8A-4147-A177-3AD203B41FA5}">
                      <a16:colId xmlns:a16="http://schemas.microsoft.com/office/drawing/2014/main" val="1061387565"/>
                    </a:ext>
                  </a:extLst>
                </a:gridCol>
                <a:gridCol w="3006293">
                  <a:extLst>
                    <a:ext uri="{9D8B030D-6E8A-4147-A177-3AD203B41FA5}">
                      <a16:colId xmlns:a16="http://schemas.microsoft.com/office/drawing/2014/main" val="1821527606"/>
                    </a:ext>
                  </a:extLst>
                </a:gridCol>
              </a:tblGrid>
              <a:tr h="134984">
                <a:tc>
                  <a:txBody>
                    <a:bodyPr/>
                    <a:lstStyle/>
                    <a:p>
                      <a:pPr>
                        <a:lnSpc>
                          <a:spcPct val="115000"/>
                        </a:lnSpc>
                        <a:spcAft>
                          <a:spcPts val="1000"/>
                        </a:spcAft>
                        <a:buNone/>
                      </a:pPr>
                      <a:r>
                        <a:rPr lang="en-US" sz="700">
                          <a:effectLst/>
                        </a:rPr>
                        <a:t>ID</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a:effectLst/>
                        </a:rPr>
                        <a:t>UC-12</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2462232005"/>
                  </a:ext>
                </a:extLst>
              </a:tr>
              <a:tr h="279275">
                <a:tc>
                  <a:txBody>
                    <a:bodyPr/>
                    <a:lstStyle/>
                    <a:p>
                      <a:pPr>
                        <a:lnSpc>
                          <a:spcPct val="115000"/>
                        </a:lnSpc>
                        <a:spcAft>
                          <a:spcPts val="1000"/>
                        </a:spcAft>
                        <a:buNone/>
                      </a:pPr>
                      <a:r>
                        <a:rPr lang="en-US" sz="700">
                          <a:effectLst/>
                        </a:rPr>
                        <a:t>Brief Description</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a:effectLst/>
                        </a:rPr>
                        <a:t>Allows an employer to create new job postings, edit existing ones, or remove them from the platform.</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3763278286"/>
                  </a:ext>
                </a:extLst>
              </a:tr>
              <a:tr h="134984">
                <a:tc>
                  <a:txBody>
                    <a:bodyPr/>
                    <a:lstStyle/>
                    <a:p>
                      <a:pPr>
                        <a:lnSpc>
                          <a:spcPct val="115000"/>
                        </a:lnSpc>
                        <a:spcAft>
                          <a:spcPts val="1000"/>
                        </a:spcAft>
                        <a:buNone/>
                      </a:pPr>
                      <a:r>
                        <a:rPr lang="en-US" sz="700">
                          <a:effectLst/>
                        </a:rPr>
                        <a:t>Primary Actor</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a:effectLst/>
                        </a:rPr>
                        <a:t>Employer</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3122108144"/>
                  </a:ext>
                </a:extLst>
              </a:tr>
              <a:tr h="134984">
                <a:tc>
                  <a:txBody>
                    <a:bodyPr/>
                    <a:lstStyle/>
                    <a:p>
                      <a:pPr>
                        <a:lnSpc>
                          <a:spcPct val="115000"/>
                        </a:lnSpc>
                        <a:spcAft>
                          <a:spcPts val="1000"/>
                        </a:spcAft>
                        <a:buNone/>
                      </a:pPr>
                      <a:r>
                        <a:rPr lang="en-US" sz="700">
                          <a:effectLst/>
                        </a:rPr>
                        <a:t>Secondary Actor</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a:effectLst/>
                        </a:rPr>
                        <a:t>None</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1225179725"/>
                  </a:ext>
                </a:extLst>
              </a:tr>
              <a:tr h="423566">
                <a:tc>
                  <a:txBody>
                    <a:bodyPr/>
                    <a:lstStyle/>
                    <a:p>
                      <a:pPr>
                        <a:lnSpc>
                          <a:spcPct val="115000"/>
                        </a:lnSpc>
                        <a:spcAft>
                          <a:spcPts val="1000"/>
                        </a:spcAft>
                        <a:buNone/>
                      </a:pPr>
                      <a:r>
                        <a:rPr lang="en-US" sz="700">
                          <a:effectLst/>
                        </a:rPr>
                        <a:t>Preconditions</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a:effectLst/>
                        </a:rPr>
                        <a:t>1. The employer is logged into the system.</a:t>
                      </a:r>
                      <a:br>
                        <a:rPr lang="en-US" sz="700">
                          <a:effectLst/>
                        </a:rPr>
                      </a:br>
                      <a:r>
                        <a:rPr lang="en-US" sz="700">
                          <a:effectLst/>
                        </a:rPr>
                        <a:t>2. The employer has completed their corporate profile (for create).</a:t>
                      </a:r>
                      <a:br>
                        <a:rPr lang="en-US" sz="700">
                          <a:effectLst/>
                        </a:rPr>
                      </a:br>
                      <a:r>
                        <a:rPr lang="en-US" sz="700">
                          <a:effectLst/>
                        </a:rPr>
                        <a:t>3. The job post exists (for update / delete).</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669900908"/>
                  </a:ext>
                </a:extLst>
              </a:tr>
              <a:tr h="3020796">
                <a:tc>
                  <a:txBody>
                    <a:bodyPr/>
                    <a:lstStyle/>
                    <a:p>
                      <a:pPr>
                        <a:lnSpc>
                          <a:spcPct val="115000"/>
                        </a:lnSpc>
                        <a:spcAft>
                          <a:spcPts val="1000"/>
                        </a:spcAft>
                        <a:buNone/>
                      </a:pPr>
                      <a:r>
                        <a:rPr lang="en-US" sz="700" dirty="0">
                          <a:effectLst/>
                        </a:rPr>
                        <a:t>Main Flow</a:t>
                      </a:r>
                      <a:endParaRPr lang="en-IN" sz="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a:effectLst/>
                        </a:rPr>
                        <a:t>CREATE:</a:t>
                      </a:r>
                      <a:br>
                        <a:rPr lang="en-US" sz="700">
                          <a:effectLst/>
                        </a:rPr>
                      </a:br>
                      <a:r>
                        <a:rPr lang="en-US" sz="700">
                          <a:effectLst/>
                        </a:rPr>
                        <a:t>1. The employer clicks Post a New Job.</a:t>
                      </a:r>
                      <a:br>
                        <a:rPr lang="en-US" sz="700">
                          <a:effectLst/>
                        </a:rPr>
                      </a:br>
                      <a:r>
                        <a:rPr lang="en-US" sz="700">
                          <a:effectLst/>
                        </a:rPr>
                        <a:t>2. The system displays the job creation form.</a:t>
                      </a:r>
                      <a:br>
                        <a:rPr lang="en-US" sz="700">
                          <a:effectLst/>
                        </a:rPr>
                      </a:br>
                      <a:r>
                        <a:rPr lang="en-US" sz="700">
                          <a:effectLst/>
                        </a:rPr>
                        <a:t>3. The employer enters job details (title, description, requirements, salary, location, type, skills, deadline).</a:t>
                      </a:r>
                      <a:br>
                        <a:rPr lang="en-US" sz="700">
                          <a:effectLst/>
                        </a:rPr>
                      </a:br>
                      <a:r>
                        <a:rPr lang="en-US" sz="700">
                          <a:effectLst/>
                        </a:rPr>
                        <a:t>4. The employer clicks Publish.</a:t>
                      </a:r>
                      <a:br>
                        <a:rPr lang="en-US" sz="700">
                          <a:effectLst/>
                        </a:rPr>
                      </a:br>
                      <a:r>
                        <a:rPr lang="en-US" sz="700">
                          <a:effectLst/>
                        </a:rPr>
                        <a:t>5. The system validates the information.</a:t>
                      </a:r>
                      <a:br>
                        <a:rPr lang="en-US" sz="700">
                          <a:effectLst/>
                        </a:rPr>
                      </a:br>
                      <a:r>
                        <a:rPr lang="en-US" sz="700">
                          <a:effectLst/>
                        </a:rPr>
                        <a:t>6. The system saves the job post and sets status to Pending Moderation (or Open if auto-approved).</a:t>
                      </a:r>
                      <a:br>
                        <a:rPr lang="en-US" sz="700">
                          <a:effectLst/>
                        </a:rPr>
                      </a:br>
                      <a:r>
                        <a:rPr lang="en-US" sz="700">
                          <a:effectLst/>
                        </a:rPr>
                        <a:t>7. The system displays a confirmation.</a:t>
                      </a:r>
                      <a:br>
                        <a:rPr lang="en-US" sz="700">
                          <a:effectLst/>
                        </a:rPr>
                      </a:br>
                      <a:br>
                        <a:rPr lang="en-US" sz="700">
                          <a:effectLst/>
                        </a:rPr>
                      </a:br>
                      <a:r>
                        <a:rPr lang="en-US" sz="700">
                          <a:effectLst/>
                        </a:rPr>
                        <a:t>UPDATE:</a:t>
                      </a:r>
                      <a:br>
                        <a:rPr lang="en-US" sz="700">
                          <a:effectLst/>
                        </a:rPr>
                      </a:br>
                      <a:r>
                        <a:rPr lang="en-US" sz="700">
                          <a:effectLst/>
                        </a:rPr>
                        <a:t>1. The employer selects an existing job post and clicks Edit.</a:t>
                      </a:r>
                      <a:br>
                        <a:rPr lang="en-US" sz="700">
                          <a:effectLst/>
                        </a:rPr>
                      </a:br>
                      <a:r>
                        <a:rPr lang="en-US" sz="700">
                          <a:effectLst/>
                        </a:rPr>
                        <a:t>2. The system displays the pre-filled form.</a:t>
                      </a:r>
                      <a:br>
                        <a:rPr lang="en-US" sz="700">
                          <a:effectLst/>
                        </a:rPr>
                      </a:br>
                      <a:r>
                        <a:rPr lang="en-US" sz="700">
                          <a:effectLst/>
                        </a:rPr>
                        <a:t>3. The employer modifies fields and clicks Save Changes.</a:t>
                      </a:r>
                      <a:br>
                        <a:rPr lang="en-US" sz="700">
                          <a:effectLst/>
                        </a:rPr>
                      </a:br>
                      <a:r>
                        <a:rPr lang="en-US" sz="700">
                          <a:effectLst/>
                        </a:rPr>
                        <a:t>4. The system validates and updates the job post.</a:t>
                      </a:r>
                      <a:br>
                        <a:rPr lang="en-US" sz="700">
                          <a:effectLst/>
                        </a:rPr>
                      </a:br>
                      <a:br>
                        <a:rPr lang="en-US" sz="700">
                          <a:effectLst/>
                        </a:rPr>
                      </a:br>
                      <a:r>
                        <a:rPr lang="en-US" sz="700">
                          <a:effectLst/>
                        </a:rPr>
                        <a:t>DELETE:</a:t>
                      </a:r>
                      <a:br>
                        <a:rPr lang="en-US" sz="700">
                          <a:effectLst/>
                        </a:rPr>
                      </a:br>
                      <a:r>
                        <a:rPr lang="en-US" sz="700">
                          <a:effectLst/>
                        </a:rPr>
                        <a:t>1. The employer selects a job post and clicks Delete.</a:t>
                      </a:r>
                      <a:br>
                        <a:rPr lang="en-US" sz="700">
                          <a:effectLst/>
                        </a:rPr>
                      </a:br>
                      <a:r>
                        <a:rPr lang="en-US" sz="700">
                          <a:effectLst/>
                        </a:rPr>
                        <a:t>2. The system prompts for confirmation.</a:t>
                      </a:r>
                      <a:br>
                        <a:rPr lang="en-US" sz="700">
                          <a:effectLst/>
                        </a:rPr>
                      </a:br>
                      <a:r>
                        <a:rPr lang="en-US" sz="700">
                          <a:effectLst/>
                        </a:rPr>
                        <a:t>3. Upon confirmation, the system removes the job post and related applications.</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2710190586"/>
                  </a:ext>
                </a:extLst>
              </a:tr>
              <a:tr h="423566">
                <a:tc>
                  <a:txBody>
                    <a:bodyPr/>
                    <a:lstStyle/>
                    <a:p>
                      <a:pPr>
                        <a:lnSpc>
                          <a:spcPct val="115000"/>
                        </a:lnSpc>
                        <a:spcAft>
                          <a:spcPts val="1000"/>
                        </a:spcAft>
                        <a:buNone/>
                      </a:pPr>
                      <a:r>
                        <a:rPr lang="en-US" sz="700">
                          <a:effectLst/>
                        </a:rPr>
                        <a:t>Post Conditions</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a:effectLst/>
                        </a:rPr>
                        <a:t>1. The job post is successfully created, updated, or deleted.</a:t>
                      </a:r>
                      <a:br>
                        <a:rPr lang="en-US" sz="700">
                          <a:effectLst/>
                        </a:rPr>
                      </a:br>
                      <a:r>
                        <a:rPr lang="en-US" sz="700">
                          <a:effectLst/>
                        </a:rPr>
                        <a:t>2. The employer's job list and dashboard are updated.</a:t>
                      </a:r>
                      <a:br>
                        <a:rPr lang="en-US" sz="700">
                          <a:effectLst/>
                        </a:rPr>
                      </a:br>
                      <a:r>
                        <a:rPr lang="en-US" sz="700">
                          <a:effectLst/>
                        </a:rPr>
                        <a:t>3. Applicants are notified if a job is deleted.</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595443895"/>
                  </a:ext>
                </a:extLst>
              </a:tr>
              <a:tr h="423566">
                <a:tc>
                  <a:txBody>
                    <a:bodyPr/>
                    <a:lstStyle/>
                    <a:p>
                      <a:pPr>
                        <a:lnSpc>
                          <a:spcPct val="115000"/>
                        </a:lnSpc>
                        <a:spcAft>
                          <a:spcPts val="1000"/>
                        </a:spcAft>
                        <a:buNone/>
                      </a:pPr>
                      <a:r>
                        <a:rPr lang="en-US" sz="700">
                          <a:effectLst/>
                        </a:rPr>
                        <a:t>Alternative Flows</a:t>
                      </a:r>
                      <a:endParaRPr lang="en-IN" sz="80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tc>
                  <a:txBody>
                    <a:bodyPr/>
                    <a:lstStyle/>
                    <a:p>
                      <a:pPr>
                        <a:lnSpc>
                          <a:spcPct val="115000"/>
                        </a:lnSpc>
                        <a:spcAft>
                          <a:spcPts val="1000"/>
                        </a:spcAft>
                        <a:buNone/>
                      </a:pPr>
                      <a:r>
                        <a:rPr lang="en-US" sz="700" dirty="0">
                          <a:effectLst/>
                        </a:rPr>
                        <a:t>1. Missing required fields → system highlights errors.</a:t>
                      </a:r>
                      <a:br>
                        <a:rPr lang="en-US" sz="700" dirty="0">
                          <a:effectLst/>
                        </a:rPr>
                      </a:br>
                      <a:r>
                        <a:rPr lang="en-US" sz="700" dirty="0">
                          <a:effectLst/>
                        </a:rPr>
                        <a:t>2. Job has active applications → system warns before deletion.</a:t>
                      </a:r>
                      <a:br>
                        <a:rPr lang="en-US" sz="700" dirty="0">
                          <a:effectLst/>
                        </a:rPr>
                      </a:br>
                      <a:r>
                        <a:rPr lang="en-US" sz="700" dirty="0">
                          <a:effectLst/>
                        </a:rPr>
                        <a:t>3. Employer exceeds posting limit → system shows upgrade prompt.</a:t>
                      </a:r>
                      <a:endParaRPr lang="en-IN" sz="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1358" marR="51358" marT="0" marB="0"/>
                </a:tc>
                <a:extLst>
                  <a:ext uri="{0D108BD9-81ED-4DB2-BD59-A6C34878D82A}">
                    <a16:rowId xmlns:a16="http://schemas.microsoft.com/office/drawing/2014/main" val="346109644"/>
                  </a:ext>
                </a:extLst>
              </a:tr>
            </a:tbl>
          </a:graphicData>
        </a:graphic>
      </p:graphicFrame>
      <p:sp>
        <p:nvSpPr>
          <p:cNvPr id="15" name="TextBox 14">
            <a:extLst>
              <a:ext uri="{FF2B5EF4-FFF2-40B4-BE49-F238E27FC236}">
                <a16:creationId xmlns:a16="http://schemas.microsoft.com/office/drawing/2014/main" id="{9B1345AE-53D7-CAD9-226F-9D721EA763DB}"/>
              </a:ext>
            </a:extLst>
          </p:cNvPr>
          <p:cNvSpPr txBox="1"/>
          <p:nvPr/>
        </p:nvSpPr>
        <p:spPr>
          <a:xfrm>
            <a:off x="7164592" y="826443"/>
            <a:ext cx="6094206" cy="6941837"/>
          </a:xfrm>
          <a:prstGeom prst="rect">
            <a:avLst/>
          </a:prstGeom>
          <a:noFill/>
        </p:spPr>
        <p:txBody>
          <a:bodyPr wrap="square">
            <a:spAutoFit/>
          </a:bodyPr>
          <a:lstStyle/>
          <a:p>
            <a:pPr>
              <a:lnSpc>
                <a:spcPct val="100000"/>
              </a:lnSpc>
              <a:spcAft>
                <a:spcPts val="1000"/>
              </a:spcAft>
              <a:buNone/>
            </a:pPr>
            <a:r>
              <a:rPr lang="en-US" sz="1800" b="1">
                <a:solidFill>
                  <a:schemeClr val="tx1"/>
                </a:solidFill>
                <a:effectLst/>
                <a:latin typeface="+mn-lt"/>
                <a:ea typeface="MS Mincho" panose="02020609040205080304" pitchFamily="49" charset="-128"/>
                <a:cs typeface="Times New Roman" panose="02020603050405020304" pitchFamily="18" charset="0"/>
              </a:rPr>
              <a:t>Use Case: Create, Update &amp; Delete Job Posts</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 </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69973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4661C39-FA0F-F541-E5CE-CA1C1F379A00}"/>
              </a:ext>
            </a:extLst>
          </p:cNvPr>
          <p:cNvGraphicFramePr>
            <a:graphicFrameLocks noGrp="1"/>
          </p:cNvGraphicFramePr>
          <p:nvPr>
            <p:extLst>
              <p:ext uri="{D42A27DB-BD31-4B8C-83A1-F6EECF244321}">
                <p14:modId xmlns:p14="http://schemas.microsoft.com/office/powerpoint/2010/main" val="1031220382"/>
              </p:ext>
            </p:extLst>
          </p:nvPr>
        </p:nvGraphicFramePr>
        <p:xfrm>
          <a:off x="231290" y="2155793"/>
          <a:ext cx="6400800" cy="3414776"/>
        </p:xfrm>
        <a:graphic>
          <a:graphicData uri="http://schemas.openxmlformats.org/drawingml/2006/table">
            <a:tbl>
              <a:tblPr firstRow="1" firstCol="1" bandRow="1">
                <a:tableStyleId>{5C22544A-7EE6-4342-B048-85BDC9FD1C3A}</a:tableStyleId>
              </a:tblPr>
              <a:tblGrid>
                <a:gridCol w="2011680">
                  <a:extLst>
                    <a:ext uri="{9D8B030D-6E8A-4147-A177-3AD203B41FA5}">
                      <a16:colId xmlns:a16="http://schemas.microsoft.com/office/drawing/2014/main" val="1712980372"/>
                    </a:ext>
                  </a:extLst>
                </a:gridCol>
                <a:gridCol w="4389120">
                  <a:extLst>
                    <a:ext uri="{9D8B030D-6E8A-4147-A177-3AD203B41FA5}">
                      <a16:colId xmlns:a16="http://schemas.microsoft.com/office/drawing/2014/main" val="543111542"/>
                    </a:ext>
                  </a:extLst>
                </a:gridCol>
              </a:tblGrid>
              <a:tr h="0">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UC-13</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18328989"/>
                  </a:ext>
                </a:extLst>
              </a:tr>
              <a:tr h="0">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an employer to quickly change the status of a job post between Open (accepting applications) and Closed (no longer accepting applications).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67510622"/>
                  </a:ext>
                </a:extLst>
              </a:tr>
              <a:tr h="0">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Employer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64850844"/>
                  </a:ext>
                </a:extLst>
              </a:tr>
              <a:tr h="0">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828095579"/>
                  </a:ext>
                </a:extLst>
              </a:tr>
              <a:tr h="0">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employer is logged in.</a:t>
                      </a:r>
                      <a:br>
                        <a:rPr lang="en-US" sz="1000">
                          <a:effectLst/>
                        </a:rPr>
                      </a:br>
                      <a:r>
                        <a:rPr lang="en-US" sz="1000">
                          <a:effectLst/>
                        </a:rPr>
                        <a:t>2. The job post exists in the system.</a:t>
                      </a:r>
                      <a:br>
                        <a:rPr lang="en-US" sz="1000">
                          <a:effectLst/>
                        </a:rPr>
                      </a:br>
                      <a:r>
                        <a:rPr lang="en-US" sz="1000">
                          <a:effectLst/>
                        </a:rPr>
                        <a:t>3. The job post is not deleted or pending moderation.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5000481"/>
                  </a:ext>
                </a:extLst>
              </a:tr>
              <a:tr h="0">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employer navigates to My Job Posts.</a:t>
                      </a:r>
                      <a:br>
                        <a:rPr lang="en-US" sz="1000">
                          <a:effectLst/>
                        </a:rPr>
                      </a:br>
                      <a:r>
                        <a:rPr lang="en-US" sz="1000">
                          <a:effectLst/>
                        </a:rPr>
                        <a:t>2. The system displays the list of job posts with their current status.</a:t>
                      </a:r>
                      <a:br>
                        <a:rPr lang="en-US" sz="1000">
                          <a:effectLst/>
                        </a:rPr>
                      </a:br>
                      <a:r>
                        <a:rPr lang="en-US" sz="1000">
                          <a:effectLst/>
                        </a:rPr>
                        <a:t>3. The employer clicks the Toggle Status switch next to a job post.</a:t>
                      </a:r>
                      <a:br>
                        <a:rPr lang="en-US" sz="1000">
                          <a:effectLst/>
                        </a:rPr>
                      </a:br>
                      <a:r>
                        <a:rPr lang="en-US" sz="1000">
                          <a:effectLst/>
                        </a:rPr>
                        <a:t>4. The system updates the job status (Open → Closed or Closed → Open).</a:t>
                      </a:r>
                      <a:br>
                        <a:rPr lang="en-US" sz="1000">
                          <a:effectLst/>
                        </a:rPr>
                      </a:br>
                      <a:r>
                        <a:rPr lang="en-US" sz="1000">
                          <a:effectLst/>
                        </a:rPr>
                        <a:t>5. The system logs the status change.</a:t>
                      </a:r>
                      <a:br>
                        <a:rPr lang="en-US" sz="1000">
                          <a:effectLst/>
                        </a:rPr>
                      </a:br>
                      <a:r>
                        <a:rPr lang="en-US" sz="1000">
                          <a:effectLst/>
                        </a:rPr>
                        <a:t>6. The system displays a confirmation and updates the job listing visibility.</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4875753"/>
                  </a:ext>
                </a:extLst>
              </a:tr>
              <a:tr h="0">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post status is successfully updated.</a:t>
                      </a:r>
                      <a:br>
                        <a:rPr lang="en-US" sz="1000">
                          <a:effectLst/>
                        </a:rPr>
                      </a:br>
                      <a:r>
                        <a:rPr lang="en-US" sz="1000">
                          <a:effectLst/>
                        </a:rPr>
                        <a:t>2. The job is visible/invisible to job seekers based on the new status.</a:t>
                      </a:r>
                      <a:br>
                        <a:rPr lang="en-US" sz="1000">
                          <a:effectLst/>
                        </a:rPr>
                      </a:br>
                      <a:r>
                        <a:rPr lang="en-US" sz="1000">
                          <a:effectLst/>
                        </a:rPr>
                        <a:t>3. The employer dashboard reflects the updated count of active jobs.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14565116"/>
                  </a:ext>
                </a:extLst>
              </a:tr>
              <a:tr h="0">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Job is pending moderation → toggle is disabled.</a:t>
                      </a:r>
                      <a:br>
                        <a:rPr lang="en-US" sz="1000" dirty="0">
                          <a:effectLst/>
                        </a:rPr>
                      </a:br>
                      <a:r>
                        <a:rPr lang="en-US" sz="1000" dirty="0">
                          <a:effectLst/>
                        </a:rPr>
                        <a:t>2. Job has a scheduled deadline → system warns that toggling overrides the schedule.</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69387521"/>
                  </a:ext>
                </a:extLst>
              </a:tr>
            </a:tbl>
          </a:graphicData>
        </a:graphic>
      </p:graphicFrame>
      <p:sp>
        <p:nvSpPr>
          <p:cNvPr id="11" name="TextBox 10">
            <a:extLst>
              <a:ext uri="{FF2B5EF4-FFF2-40B4-BE49-F238E27FC236}">
                <a16:creationId xmlns:a16="http://schemas.microsoft.com/office/drawing/2014/main" id="{C312F63E-F11C-BF9E-056B-6F51FCBACBBF}"/>
              </a:ext>
            </a:extLst>
          </p:cNvPr>
          <p:cNvSpPr txBox="1"/>
          <p:nvPr/>
        </p:nvSpPr>
        <p:spPr>
          <a:xfrm>
            <a:off x="231290" y="1287431"/>
            <a:ext cx="7030122" cy="5165517"/>
          </a:xfrm>
          <a:prstGeom prst="rect">
            <a:avLst/>
          </a:prstGeom>
          <a:noFill/>
        </p:spPr>
        <p:txBody>
          <a:bodyPr wrap="square">
            <a:spAutoFit/>
          </a:bodyPr>
          <a:lstStyle/>
          <a:p>
            <a:pPr>
              <a:lnSpc>
                <a:spcPct val="100000"/>
              </a:lnSpc>
              <a:spcAft>
                <a:spcPts val="10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Use Case: Toggle Job Status (Open / Closed)</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 </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40D69CCE-F08B-813D-1491-8C56E98F3103}"/>
              </a:ext>
            </a:extLst>
          </p:cNvPr>
          <p:cNvGraphicFramePr>
            <a:graphicFrameLocks noGrp="1"/>
          </p:cNvGraphicFramePr>
          <p:nvPr>
            <p:extLst>
              <p:ext uri="{D42A27DB-BD31-4B8C-83A1-F6EECF244321}">
                <p14:modId xmlns:p14="http://schemas.microsoft.com/office/powerpoint/2010/main" val="3207175832"/>
              </p:ext>
            </p:extLst>
          </p:nvPr>
        </p:nvGraphicFramePr>
        <p:xfrm>
          <a:off x="6884894" y="1151218"/>
          <a:ext cx="4889350" cy="5285992"/>
        </p:xfrm>
        <a:graphic>
          <a:graphicData uri="http://schemas.openxmlformats.org/drawingml/2006/table">
            <a:tbl>
              <a:tblPr firstRow="1" firstCol="1" bandRow="1">
                <a:tableStyleId>{5C22544A-7EE6-4342-B048-85BDC9FD1C3A}</a:tableStyleId>
              </a:tblPr>
              <a:tblGrid>
                <a:gridCol w="1536653">
                  <a:extLst>
                    <a:ext uri="{9D8B030D-6E8A-4147-A177-3AD203B41FA5}">
                      <a16:colId xmlns:a16="http://schemas.microsoft.com/office/drawing/2014/main" val="2417552183"/>
                    </a:ext>
                  </a:extLst>
                </a:gridCol>
                <a:gridCol w="3352697">
                  <a:extLst>
                    <a:ext uri="{9D8B030D-6E8A-4147-A177-3AD203B41FA5}">
                      <a16:colId xmlns:a16="http://schemas.microsoft.com/office/drawing/2014/main" val="580073800"/>
                    </a:ext>
                  </a:extLst>
                </a:gridCol>
              </a:tblGrid>
              <a:tr h="173609">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UC-14</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29051449"/>
                  </a:ext>
                </a:extLst>
              </a:tr>
              <a:tr h="359186">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an employer to view, review, and update the status of applications received for their job postings.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3111759"/>
                  </a:ext>
                </a:extLst>
              </a:tr>
              <a:tr h="173609">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Employer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32358653"/>
                  </a:ext>
                </a:extLst>
              </a:tr>
              <a:tr h="173609">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92315835"/>
                  </a:ext>
                </a:extLst>
              </a:tr>
              <a:tr h="544763">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employer is logged in.</a:t>
                      </a:r>
                      <a:br>
                        <a:rPr lang="en-US" sz="1000">
                          <a:effectLst/>
                        </a:rPr>
                      </a:br>
                      <a:r>
                        <a:rPr lang="en-US" sz="1000">
                          <a:effectLst/>
                        </a:rPr>
                        <a:t>2. The employer has active job posts.</a:t>
                      </a:r>
                      <a:br>
                        <a:rPr lang="en-US" sz="1000">
                          <a:effectLst/>
                        </a:rPr>
                      </a:br>
                      <a:r>
                        <a:rPr lang="en-US" sz="1000">
                          <a:effectLst/>
                        </a:rPr>
                        <a:t>3. Applications have been received for at least one job post.</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98970493"/>
                  </a:ext>
                </a:extLst>
              </a:tr>
              <a:tr h="2586113">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employer navigates to the Applications section.</a:t>
                      </a:r>
                      <a:br>
                        <a:rPr lang="en-US" sz="1000">
                          <a:effectLst/>
                        </a:rPr>
                      </a:br>
                      <a:r>
                        <a:rPr lang="en-US" sz="1000">
                          <a:effectLst/>
                        </a:rPr>
                        <a:t>2. The system retrieves and displays a list of applications grouped by job post.</a:t>
                      </a:r>
                      <a:br>
                        <a:rPr lang="en-US" sz="1000">
                          <a:effectLst/>
                        </a:rPr>
                      </a:br>
                      <a:r>
                        <a:rPr lang="en-US" sz="1000">
                          <a:effectLst/>
                        </a:rPr>
                        <a:t>3. The employer selects an application to view details.</a:t>
                      </a:r>
                      <a:br>
                        <a:rPr lang="en-US" sz="1000">
                          <a:effectLst/>
                        </a:rPr>
                      </a:br>
                      <a:r>
                        <a:rPr lang="en-US" sz="1000">
                          <a:effectLst/>
                        </a:rPr>
                        <a:t>4. The system displays applicant info, resume summary, and applied date.</a:t>
                      </a:r>
                      <a:br>
                        <a:rPr lang="en-US" sz="1000">
                          <a:effectLst/>
                        </a:rPr>
                      </a:br>
                      <a:r>
                        <a:rPr lang="en-US" sz="1000">
                          <a:effectLst/>
                        </a:rPr>
                        <a:t>5. The employer optionally views View Skill Match Scoring (&lt;&lt;extend&gt;&gt;).</a:t>
                      </a:r>
                      <a:br>
                        <a:rPr lang="en-US" sz="1000">
                          <a:effectLst/>
                        </a:rPr>
                      </a:br>
                      <a:r>
                        <a:rPr lang="en-US" sz="1000">
                          <a:effectLst/>
                        </a:rPr>
                        <a:t>6. The employer optionally uses Download Candidate Resumes (&lt;&lt;extend&gt;&gt;).</a:t>
                      </a:r>
                      <a:br>
                        <a:rPr lang="en-US" sz="1000">
                          <a:effectLst/>
                        </a:rPr>
                      </a:br>
                      <a:r>
                        <a:rPr lang="en-US" sz="1000">
                          <a:effectLst/>
                        </a:rPr>
                        <a:t>7. The employer updates the application status (New → Shortlisted / Rejected / Interview Scheduled / Hired).</a:t>
                      </a:r>
                      <a:br>
                        <a:rPr lang="en-US" sz="1000">
                          <a:effectLst/>
                        </a:rPr>
                      </a:br>
                      <a:r>
                        <a:rPr lang="en-US" sz="1000">
                          <a:effectLst/>
                        </a:rPr>
                        <a:t>8. The system saves the status update and notifies the job seeker.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35158116"/>
                  </a:ext>
                </a:extLst>
              </a:tr>
              <a:tr h="544763">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application status is successfully updated.</a:t>
                      </a:r>
                      <a:br>
                        <a:rPr lang="en-US" sz="1000">
                          <a:effectLst/>
                        </a:rPr>
                      </a:br>
                      <a:r>
                        <a:rPr lang="en-US" sz="1000">
                          <a:effectLst/>
                        </a:rPr>
                        <a:t>2. The job seeker receives a notification of the status change.</a:t>
                      </a:r>
                      <a:br>
                        <a:rPr lang="en-US" sz="1000">
                          <a:effectLst/>
                        </a:rPr>
                      </a:br>
                      <a:r>
                        <a:rPr lang="en-US" sz="1000">
                          <a:effectLst/>
                        </a:rPr>
                        <a:t>3. The employer's application statistics are updated.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90589171"/>
                  </a:ext>
                </a:extLst>
              </a:tr>
              <a:tr h="730340">
                <a:tc>
                  <a:txBody>
                    <a:bodyPr/>
                    <a:lstStyle/>
                    <a:p>
                      <a:pPr>
                        <a:lnSpc>
                          <a:spcPct val="115000"/>
                        </a:lnSpc>
                        <a:spcAft>
                          <a:spcPts val="1000"/>
                        </a:spcAft>
                        <a:buNone/>
                      </a:pPr>
                      <a:r>
                        <a:rPr lang="en-US" sz="1000" dirty="0">
                          <a:effectLst/>
                        </a:rPr>
                        <a:t>Alternative Flows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No applications received → system shows an empty state.</a:t>
                      </a:r>
                      <a:br>
                        <a:rPr lang="en-US" sz="1000" dirty="0">
                          <a:effectLst/>
                        </a:rPr>
                      </a:br>
                      <a:r>
                        <a:rPr lang="en-US" sz="1000" dirty="0">
                          <a:effectLst/>
                        </a:rPr>
                        <a:t>2. Job seeker withdraws application → application is marked as withdrawn.</a:t>
                      </a:r>
                      <a:br>
                        <a:rPr lang="en-US" sz="1000" dirty="0">
                          <a:effectLst/>
                        </a:rPr>
                      </a:br>
                      <a:r>
                        <a:rPr lang="en-US" sz="1000" dirty="0">
                          <a:effectLst/>
                        </a:rPr>
                        <a:t>3. Resume file missing → download option is disabled.</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70438645"/>
                  </a:ext>
                </a:extLst>
              </a:tr>
            </a:tbl>
          </a:graphicData>
        </a:graphic>
      </p:graphicFrame>
      <p:sp>
        <p:nvSpPr>
          <p:cNvPr id="15" name="TextBox 14">
            <a:extLst>
              <a:ext uri="{FF2B5EF4-FFF2-40B4-BE49-F238E27FC236}">
                <a16:creationId xmlns:a16="http://schemas.microsoft.com/office/drawing/2014/main" id="{EF9D8B3F-CEBB-8D2B-7CF2-31966C651938}"/>
              </a:ext>
            </a:extLst>
          </p:cNvPr>
          <p:cNvSpPr txBox="1"/>
          <p:nvPr/>
        </p:nvSpPr>
        <p:spPr>
          <a:xfrm>
            <a:off x="6970955" y="699247"/>
            <a:ext cx="4803289" cy="5737963"/>
          </a:xfrm>
          <a:prstGeom prst="rect">
            <a:avLst/>
          </a:prstGeom>
          <a:noFill/>
        </p:spPr>
        <p:txBody>
          <a:bodyPr wrap="square">
            <a:spAutoFit/>
          </a:bodyPr>
          <a:lstStyle/>
          <a:p>
            <a:pPr>
              <a:lnSpc>
                <a:spcPct val="100000"/>
              </a:lnSpc>
              <a:spcAft>
                <a:spcPts val="10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Use Case: Manage Applications</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4328920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6FD48D0-D0D2-8745-7AFB-62C473D3DC62}"/>
              </a:ext>
            </a:extLst>
          </p:cNvPr>
          <p:cNvGraphicFramePr>
            <a:graphicFrameLocks noGrp="1"/>
          </p:cNvGraphicFramePr>
          <p:nvPr>
            <p:extLst>
              <p:ext uri="{D42A27DB-BD31-4B8C-83A1-F6EECF244321}">
                <p14:modId xmlns:p14="http://schemas.microsoft.com/office/powerpoint/2010/main" val="3687113014"/>
              </p:ext>
            </p:extLst>
          </p:nvPr>
        </p:nvGraphicFramePr>
        <p:xfrm>
          <a:off x="66710" y="1882588"/>
          <a:ext cx="5226052" cy="4496696"/>
        </p:xfrm>
        <a:graphic>
          <a:graphicData uri="http://schemas.openxmlformats.org/drawingml/2006/table">
            <a:tbl>
              <a:tblPr firstRow="1" firstCol="1" bandRow="1">
                <a:tableStyleId>{5C22544A-7EE6-4342-B048-85BDC9FD1C3A}</a:tableStyleId>
              </a:tblPr>
              <a:tblGrid>
                <a:gridCol w="1642473">
                  <a:extLst>
                    <a:ext uri="{9D8B030D-6E8A-4147-A177-3AD203B41FA5}">
                      <a16:colId xmlns:a16="http://schemas.microsoft.com/office/drawing/2014/main" val="2511088526"/>
                    </a:ext>
                  </a:extLst>
                </a:gridCol>
                <a:gridCol w="3583579">
                  <a:extLst>
                    <a:ext uri="{9D8B030D-6E8A-4147-A177-3AD203B41FA5}">
                      <a16:colId xmlns:a16="http://schemas.microsoft.com/office/drawing/2014/main" val="1933193829"/>
                    </a:ext>
                  </a:extLst>
                </a:gridCol>
              </a:tblGrid>
              <a:tr h="244715">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UC-15</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67189760"/>
                  </a:ext>
                </a:extLst>
              </a:tr>
              <a:tr h="506298">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an employer to download the PDF resume attached to a candidate's job application.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56786779"/>
                  </a:ext>
                </a:extLst>
              </a:tr>
              <a:tr h="244715">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Employer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35955835"/>
                  </a:ext>
                </a:extLst>
              </a:tr>
              <a:tr h="244715">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7178014"/>
                  </a:ext>
                </a:extLst>
              </a:tr>
              <a:tr h="643204">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employer is logged in.</a:t>
                      </a:r>
                      <a:br>
                        <a:rPr lang="en-US" sz="1000">
                          <a:effectLst/>
                        </a:rPr>
                      </a:br>
                      <a:r>
                        <a:rPr lang="en-US" sz="1000">
                          <a:effectLst/>
                        </a:rPr>
                        <a:t>2. The employer is viewing an application with an uploaded resume.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629439464"/>
                  </a:ext>
                </a:extLst>
              </a:tr>
              <a:tr h="1344068">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employer clicks the Download Resume button on the application details page.</a:t>
                      </a:r>
                      <a:br>
                        <a:rPr lang="en-US" sz="1000">
                          <a:effectLst/>
                        </a:rPr>
                      </a:br>
                      <a:r>
                        <a:rPr lang="en-US" sz="1000">
                          <a:effectLst/>
                        </a:rPr>
                        <a:t>2. The system retrieves the resume file from storage.</a:t>
                      </a:r>
                      <a:br>
                        <a:rPr lang="en-US" sz="1000">
                          <a:effectLst/>
                        </a:rPr>
                      </a:br>
                      <a:r>
                        <a:rPr lang="en-US" sz="1000">
                          <a:effectLst/>
                        </a:rPr>
                        <a:t>3. The system initiates the file download to the employer's device.</a:t>
                      </a:r>
                      <a:br>
                        <a:rPr lang="en-US" sz="1000">
                          <a:effectLst/>
                        </a:rPr>
                      </a:br>
                      <a:r>
                        <a:rPr lang="en-US" sz="1000">
                          <a:effectLst/>
                        </a:rPr>
                        <a:t>4. The system logs the download action for audit purposes.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22803376"/>
                  </a:ext>
                </a:extLst>
              </a:tr>
              <a:tr h="506298">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resume PDF is successfully downloaded.</a:t>
                      </a:r>
                      <a:br>
                        <a:rPr lang="en-US" sz="1000">
                          <a:effectLst/>
                        </a:rPr>
                      </a:br>
                      <a:r>
                        <a:rPr lang="en-US" sz="1000">
                          <a:effectLst/>
                        </a:rPr>
                        <a:t>2. The download is recorded in the system audit log.</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13225889"/>
                  </a:ext>
                </a:extLst>
              </a:tr>
              <a:tr h="762683">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Resume file is missing or corrupted → system shows an error.</a:t>
                      </a:r>
                      <a:br>
                        <a:rPr lang="en-US" sz="1000" dirty="0">
                          <a:effectLst/>
                        </a:rPr>
                      </a:br>
                      <a:r>
                        <a:rPr lang="en-US" sz="1000" dirty="0">
                          <a:effectLst/>
                        </a:rPr>
                        <a:t>2. Storage service is unavailable → system shows a retry option.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20889919"/>
                  </a:ext>
                </a:extLst>
              </a:tr>
            </a:tbl>
          </a:graphicData>
        </a:graphic>
      </p:graphicFrame>
      <p:sp>
        <p:nvSpPr>
          <p:cNvPr id="11" name="TextBox 10">
            <a:extLst>
              <a:ext uri="{FF2B5EF4-FFF2-40B4-BE49-F238E27FC236}">
                <a16:creationId xmlns:a16="http://schemas.microsoft.com/office/drawing/2014/main" id="{A405C1AD-9C81-7333-E495-71B0936F60DA}"/>
              </a:ext>
            </a:extLst>
          </p:cNvPr>
          <p:cNvSpPr txBox="1"/>
          <p:nvPr/>
        </p:nvSpPr>
        <p:spPr>
          <a:xfrm>
            <a:off x="66710" y="1075765"/>
            <a:ext cx="6194241" cy="4057521"/>
          </a:xfrm>
          <a:prstGeom prst="rect">
            <a:avLst/>
          </a:prstGeom>
          <a:noFill/>
        </p:spPr>
        <p:txBody>
          <a:bodyPr wrap="square">
            <a:spAutoFit/>
          </a:bodyPr>
          <a:lstStyle/>
          <a:p>
            <a:pPr>
              <a:lnSpc>
                <a:spcPct val="100000"/>
              </a:lnSpc>
              <a:spcAft>
                <a:spcPts val="10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Use Case: Download Candidate Resumes (&lt;&lt;extend&gt;&gt;)</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 </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E39496F3-5D66-15A8-CC35-EC7A89FBF910}"/>
              </a:ext>
            </a:extLst>
          </p:cNvPr>
          <p:cNvGraphicFramePr>
            <a:graphicFrameLocks noGrp="1"/>
          </p:cNvGraphicFramePr>
          <p:nvPr>
            <p:extLst>
              <p:ext uri="{D42A27DB-BD31-4B8C-83A1-F6EECF244321}">
                <p14:modId xmlns:p14="http://schemas.microsoft.com/office/powerpoint/2010/main" val="1349859141"/>
              </p:ext>
            </p:extLst>
          </p:nvPr>
        </p:nvGraphicFramePr>
        <p:xfrm>
          <a:off x="5583246" y="1583977"/>
          <a:ext cx="5142128" cy="4742529"/>
        </p:xfrm>
        <a:graphic>
          <a:graphicData uri="http://schemas.openxmlformats.org/drawingml/2006/table">
            <a:tbl>
              <a:tblPr firstRow="1" firstCol="1" bandRow="1">
                <a:tableStyleId>{5C22544A-7EE6-4342-B048-85BDC9FD1C3A}</a:tableStyleId>
              </a:tblPr>
              <a:tblGrid>
                <a:gridCol w="1616097">
                  <a:extLst>
                    <a:ext uri="{9D8B030D-6E8A-4147-A177-3AD203B41FA5}">
                      <a16:colId xmlns:a16="http://schemas.microsoft.com/office/drawing/2014/main" val="4077340196"/>
                    </a:ext>
                  </a:extLst>
                </a:gridCol>
                <a:gridCol w="3526031">
                  <a:extLst>
                    <a:ext uri="{9D8B030D-6E8A-4147-A177-3AD203B41FA5}">
                      <a16:colId xmlns:a16="http://schemas.microsoft.com/office/drawing/2014/main" val="949508427"/>
                    </a:ext>
                  </a:extLst>
                </a:gridCol>
              </a:tblGrid>
              <a:tr h="160058">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UC-16</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58674612"/>
                  </a:ext>
                </a:extLst>
              </a:tr>
              <a:tr h="435254">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an employer to create and update their company profile information and upload a corporate logo.</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50476625"/>
                  </a:ext>
                </a:extLst>
              </a:tr>
              <a:tr h="160058">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Employer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69764792"/>
                  </a:ext>
                </a:extLst>
              </a:tr>
              <a:tr h="160058">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07049854"/>
                  </a:ext>
                </a:extLst>
              </a:tr>
              <a:tr h="435254">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employer is logged into the system.</a:t>
                      </a:r>
                      <a:br>
                        <a:rPr lang="en-US" sz="1000">
                          <a:effectLst/>
                        </a:rPr>
                      </a:br>
                      <a:r>
                        <a:rPr lang="en-US" sz="1000">
                          <a:effectLst/>
                        </a:rPr>
                        <a:t>2. The employer has navigated to the company profile settings.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23747296"/>
                  </a:ext>
                </a:extLst>
              </a:tr>
              <a:tr h="1870977">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employer clicks Edit Company Profile.</a:t>
                      </a:r>
                      <a:br>
                        <a:rPr lang="en-US" sz="1000">
                          <a:effectLst/>
                        </a:rPr>
                      </a:br>
                      <a:r>
                        <a:rPr lang="en-US" sz="1000">
                          <a:effectLst/>
                        </a:rPr>
                        <a:t>2. The system displays the current corporate profile form (company name, description, industry, size, website, location, contact info).</a:t>
                      </a:r>
                      <a:br>
                        <a:rPr lang="en-US" sz="1000">
                          <a:effectLst/>
                        </a:rPr>
                      </a:br>
                      <a:r>
                        <a:rPr lang="en-US" sz="1000">
                          <a:effectLst/>
                        </a:rPr>
                        <a:t>3. The employer updates the fields as needed.</a:t>
                      </a:r>
                      <a:br>
                        <a:rPr lang="en-US" sz="1000">
                          <a:effectLst/>
                        </a:rPr>
                      </a:br>
                      <a:r>
                        <a:rPr lang="en-US" sz="1000">
                          <a:effectLst/>
                        </a:rPr>
                        <a:t>4. The employer uploads or replaces the company logo.</a:t>
                      </a:r>
                      <a:br>
                        <a:rPr lang="en-US" sz="1000">
                          <a:effectLst/>
                        </a:rPr>
                      </a:br>
                      <a:r>
                        <a:rPr lang="en-US" sz="1000">
                          <a:effectLst/>
                        </a:rPr>
                        <a:t>5. The employer clicks Save Changes.</a:t>
                      </a:r>
                      <a:br>
                        <a:rPr lang="en-US" sz="1000">
                          <a:effectLst/>
                        </a:rPr>
                      </a:br>
                      <a:r>
                        <a:rPr lang="en-US" sz="1000">
                          <a:effectLst/>
                        </a:rPr>
                        <a:t>6. The system validates the inputs and file.</a:t>
                      </a:r>
                      <a:br>
                        <a:rPr lang="en-US" sz="1000">
                          <a:effectLst/>
                        </a:rPr>
                      </a:br>
                      <a:r>
                        <a:rPr lang="en-US" sz="1000">
                          <a:effectLst/>
                        </a:rPr>
                        <a:t>7. The system updates the corporate profile and logo in the database and file storage.</a:t>
                      </a:r>
                      <a:br>
                        <a:rPr lang="en-US" sz="1000">
                          <a:effectLst/>
                        </a:rPr>
                      </a:br>
                      <a:r>
                        <a:rPr lang="en-US" sz="1000">
                          <a:effectLst/>
                        </a:rPr>
                        <a:t>8. The system displays a success confirmation.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60361146"/>
                  </a:ext>
                </a:extLst>
              </a:tr>
              <a:tr h="583525">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corporate profile and logo are successfully updated.</a:t>
                      </a:r>
                      <a:br>
                        <a:rPr lang="en-US" sz="1000">
                          <a:effectLst/>
                        </a:rPr>
                      </a:br>
                      <a:r>
                        <a:rPr lang="en-US" sz="1000">
                          <a:effectLst/>
                        </a:rPr>
                        <a:t>2. The updated profile and logo are visible on all the employer's job postings.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4326154"/>
                  </a:ext>
                </a:extLst>
              </a:tr>
              <a:tr h="880068">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Invalid logo format/size → system rejects and specifies requirements.</a:t>
                      </a:r>
                      <a:br>
                        <a:rPr lang="en-US" sz="1000" dirty="0">
                          <a:effectLst/>
                        </a:rPr>
                      </a:br>
                      <a:r>
                        <a:rPr lang="en-US" sz="1000" dirty="0">
                          <a:effectLst/>
                        </a:rPr>
                        <a:t>2. Duplicate company name detected → system warns the user.</a:t>
                      </a:r>
                      <a:br>
                        <a:rPr lang="en-US" sz="1000" dirty="0">
                          <a:effectLst/>
                        </a:rPr>
                      </a:br>
                      <a:r>
                        <a:rPr lang="en-US" sz="1000" dirty="0">
                          <a:effectLst/>
                        </a:rPr>
                        <a:t>3. Mandatory fields left empty → system highlights errors.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96961628"/>
                  </a:ext>
                </a:extLst>
              </a:tr>
            </a:tbl>
          </a:graphicData>
        </a:graphic>
      </p:graphicFrame>
      <p:sp>
        <p:nvSpPr>
          <p:cNvPr id="15" name="TextBox 14">
            <a:extLst>
              <a:ext uri="{FF2B5EF4-FFF2-40B4-BE49-F238E27FC236}">
                <a16:creationId xmlns:a16="http://schemas.microsoft.com/office/drawing/2014/main" id="{A1CCD872-83B5-8234-AC6C-FCB8F148EC12}"/>
              </a:ext>
            </a:extLst>
          </p:cNvPr>
          <p:cNvSpPr txBox="1"/>
          <p:nvPr/>
        </p:nvSpPr>
        <p:spPr>
          <a:xfrm>
            <a:off x="7057016" y="957431"/>
            <a:ext cx="4895824" cy="4975721"/>
          </a:xfrm>
          <a:prstGeom prst="rect">
            <a:avLst/>
          </a:prstGeom>
          <a:noFill/>
        </p:spPr>
        <p:txBody>
          <a:bodyPr wrap="square">
            <a:spAutoFit/>
          </a:bodyPr>
          <a:lstStyle/>
          <a:p>
            <a:pPr>
              <a:lnSpc>
                <a:spcPct val="100000"/>
              </a:lnSpc>
              <a:spcAft>
                <a:spcPts val="1000"/>
              </a:spcAft>
              <a:buNone/>
            </a:pPr>
            <a:r>
              <a:rPr lang="en-US" sz="1800" b="1">
                <a:solidFill>
                  <a:schemeClr val="tx1"/>
                </a:solidFill>
                <a:effectLst/>
                <a:latin typeface="+mn-lt"/>
                <a:ea typeface="MS Mincho" panose="02020609040205080304" pitchFamily="49" charset="-128"/>
                <a:cs typeface="Times New Roman" panose="02020603050405020304" pitchFamily="18" charset="0"/>
              </a:rPr>
              <a:t>Use Case: Manage Corporate Profile &amp; Logo</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415645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9DE0F06-76A8-5F99-9124-C10425A0187F}"/>
              </a:ext>
            </a:extLst>
          </p:cNvPr>
          <p:cNvGraphicFramePr>
            <a:graphicFrameLocks noGrp="1"/>
          </p:cNvGraphicFramePr>
          <p:nvPr>
            <p:extLst>
              <p:ext uri="{D42A27DB-BD31-4B8C-83A1-F6EECF244321}">
                <p14:modId xmlns:p14="http://schemas.microsoft.com/office/powerpoint/2010/main" val="1545925697"/>
              </p:ext>
            </p:extLst>
          </p:nvPr>
        </p:nvGraphicFramePr>
        <p:xfrm>
          <a:off x="45117" y="1464709"/>
          <a:ext cx="6275720" cy="4623271"/>
        </p:xfrm>
        <a:graphic>
          <a:graphicData uri="http://schemas.openxmlformats.org/drawingml/2006/table">
            <a:tbl>
              <a:tblPr firstRow="1" firstCol="1" bandRow="1">
                <a:tableStyleId>{5C22544A-7EE6-4342-B048-85BDC9FD1C3A}</a:tableStyleId>
              </a:tblPr>
              <a:tblGrid>
                <a:gridCol w="1972370">
                  <a:extLst>
                    <a:ext uri="{9D8B030D-6E8A-4147-A177-3AD203B41FA5}">
                      <a16:colId xmlns:a16="http://schemas.microsoft.com/office/drawing/2014/main" val="2366911375"/>
                    </a:ext>
                  </a:extLst>
                </a:gridCol>
                <a:gridCol w="4303350">
                  <a:extLst>
                    <a:ext uri="{9D8B030D-6E8A-4147-A177-3AD203B41FA5}">
                      <a16:colId xmlns:a16="http://schemas.microsoft.com/office/drawing/2014/main" val="3566181622"/>
                    </a:ext>
                  </a:extLst>
                </a:gridCol>
              </a:tblGrid>
              <a:tr h="262382">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UC-17</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97069446"/>
                  </a:ext>
                </a:extLst>
              </a:tr>
              <a:tr h="542850">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the platform administrator to view system-wide analytics including user growth, job postings, application trends, and platform health metrics.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35835837"/>
                  </a:ext>
                </a:extLst>
              </a:tr>
              <a:tr h="262382">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Platform Admin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1840971"/>
                  </a:ext>
                </a:extLst>
              </a:tr>
              <a:tr h="262382">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43376699"/>
                  </a:ext>
                </a:extLst>
              </a:tr>
              <a:tr h="542850">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admin is logged in with administrative privileges.</a:t>
                      </a:r>
                      <a:br>
                        <a:rPr lang="en-US" sz="1000">
                          <a:effectLst/>
                        </a:rPr>
                      </a:br>
                      <a:r>
                        <a:rPr lang="en-US" sz="1000">
                          <a:effectLst/>
                        </a:rPr>
                        <a:t>2. The system analytics module is operational.</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58994546"/>
                  </a:ext>
                </a:extLst>
              </a:tr>
              <a:tr h="1664725">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admin navigates to Global Analytics Dashboard.</a:t>
                      </a:r>
                      <a:br>
                        <a:rPr lang="en-US" sz="1000">
                          <a:effectLst/>
                        </a:rPr>
                      </a:br>
                      <a:r>
                        <a:rPr lang="en-US" sz="1000">
                          <a:effectLst/>
                        </a:rPr>
                        <a:t>2. The system aggregates data from all modules (users, jobs, applications, logs).</a:t>
                      </a:r>
                      <a:br>
                        <a:rPr lang="en-US" sz="1000">
                          <a:effectLst/>
                        </a:rPr>
                      </a:br>
                      <a:r>
                        <a:rPr lang="en-US" sz="1000">
                          <a:effectLst/>
                        </a:rPr>
                        <a:t>3. The system displays visual analytics (charts, graphs, KPIs): total users, active jobs, applications this month, top industries, platform uptime, etc.</a:t>
                      </a:r>
                      <a:br>
                        <a:rPr lang="en-US" sz="1000">
                          <a:effectLst/>
                        </a:rPr>
                      </a:br>
                      <a:r>
                        <a:rPr lang="en-US" sz="1000">
                          <a:effectLst/>
                        </a:rPr>
                        <a:t>4. The admin selects date ranges or filters to drill down into specific metrics.</a:t>
                      </a:r>
                      <a:br>
                        <a:rPr lang="en-US" sz="1000">
                          <a:effectLst/>
                        </a:rPr>
                      </a:br>
                      <a:r>
                        <a:rPr lang="en-US" sz="1000">
                          <a:effectLst/>
                        </a:rPr>
                        <a:t>5. The system updates the displayed analytics dynamically.</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886680373"/>
                  </a:ext>
                </a:extLst>
              </a:tr>
              <a:tr h="542850">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global analytics dashboard is successfully displayed.</a:t>
                      </a:r>
                      <a:br>
                        <a:rPr lang="en-US" sz="1000">
                          <a:effectLst/>
                        </a:rPr>
                      </a:br>
                      <a:r>
                        <a:rPr lang="en-US" sz="1000">
                          <a:effectLst/>
                        </a:rPr>
                        <a:t>2. The admin can export reports or navigate to specific management sections.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65217548"/>
                  </a:ext>
                </a:extLst>
              </a:tr>
              <a:tr h="542850">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Analytics data is stale → system shows last updated timestamp.</a:t>
                      </a:r>
                      <a:br>
                        <a:rPr lang="en-US" sz="1000" dirty="0">
                          <a:effectLst/>
                        </a:rPr>
                      </a:br>
                      <a:r>
                        <a:rPr lang="en-US" sz="1000" dirty="0">
                          <a:effectLst/>
                        </a:rPr>
                        <a:t>2. Aggregation service is down → system shows cached data with a warning.</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39585514"/>
                  </a:ext>
                </a:extLst>
              </a:tr>
            </a:tbl>
          </a:graphicData>
        </a:graphic>
      </p:graphicFrame>
      <p:sp>
        <p:nvSpPr>
          <p:cNvPr id="4" name="TextBox 3">
            <a:extLst>
              <a:ext uri="{FF2B5EF4-FFF2-40B4-BE49-F238E27FC236}">
                <a16:creationId xmlns:a16="http://schemas.microsoft.com/office/drawing/2014/main" id="{4B6E1F94-A3EB-19CA-73AE-F65F8368F056}"/>
              </a:ext>
            </a:extLst>
          </p:cNvPr>
          <p:cNvSpPr txBox="1"/>
          <p:nvPr/>
        </p:nvSpPr>
        <p:spPr>
          <a:xfrm>
            <a:off x="1768379" y="1010654"/>
            <a:ext cx="7044749" cy="3867725"/>
          </a:xfrm>
          <a:prstGeom prst="rect">
            <a:avLst/>
          </a:prstGeom>
          <a:noFill/>
        </p:spPr>
        <p:txBody>
          <a:bodyPr wrap="square">
            <a:spAutoFit/>
          </a:bodyPr>
          <a:lstStyle/>
          <a:p>
            <a:pPr>
              <a:lnSpc>
                <a:spcPct val="100000"/>
              </a:lnSpc>
              <a:spcAft>
                <a:spcPts val="1000"/>
              </a:spcAft>
              <a:buNone/>
            </a:pPr>
            <a:r>
              <a:rPr lang="en-US" sz="1800" b="1">
                <a:solidFill>
                  <a:schemeClr val="tx1"/>
                </a:solidFill>
                <a:effectLst/>
                <a:latin typeface="+mn-lt"/>
                <a:ea typeface="MS Mincho" panose="02020609040205080304" pitchFamily="49" charset="-128"/>
                <a:cs typeface="Times New Roman" panose="02020603050405020304" pitchFamily="18" charset="0"/>
              </a:rPr>
              <a:t>Use Case: View Global Analytics Dashboard</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3A581629-3738-01AC-69F0-7653121BF713}"/>
              </a:ext>
            </a:extLst>
          </p:cNvPr>
          <p:cNvGraphicFramePr>
            <a:graphicFrameLocks noGrp="1"/>
          </p:cNvGraphicFramePr>
          <p:nvPr>
            <p:extLst>
              <p:ext uri="{D42A27DB-BD31-4B8C-83A1-F6EECF244321}">
                <p14:modId xmlns:p14="http://schemas.microsoft.com/office/powerpoint/2010/main" val="3167683358"/>
              </p:ext>
            </p:extLst>
          </p:nvPr>
        </p:nvGraphicFramePr>
        <p:xfrm>
          <a:off x="6854266" y="1464709"/>
          <a:ext cx="4816366" cy="4887964"/>
        </p:xfrm>
        <a:graphic>
          <a:graphicData uri="http://schemas.openxmlformats.org/drawingml/2006/table">
            <a:tbl>
              <a:tblPr firstRow="1" firstCol="1" bandRow="1">
                <a:tableStyleId>{5C22544A-7EE6-4342-B048-85BDC9FD1C3A}</a:tableStyleId>
              </a:tblPr>
              <a:tblGrid>
                <a:gridCol w="1513715">
                  <a:extLst>
                    <a:ext uri="{9D8B030D-6E8A-4147-A177-3AD203B41FA5}">
                      <a16:colId xmlns:a16="http://schemas.microsoft.com/office/drawing/2014/main" val="1334130044"/>
                    </a:ext>
                  </a:extLst>
                </a:gridCol>
                <a:gridCol w="3302651">
                  <a:extLst>
                    <a:ext uri="{9D8B030D-6E8A-4147-A177-3AD203B41FA5}">
                      <a16:colId xmlns:a16="http://schemas.microsoft.com/office/drawing/2014/main" val="3366438069"/>
                    </a:ext>
                  </a:extLst>
                </a:gridCol>
              </a:tblGrid>
              <a:tr h="166377">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UC-18</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1271873"/>
                  </a:ext>
                </a:extLst>
              </a:tr>
              <a:tr h="522072">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the platform administrator to review, approve, reject, or request changes for job postings submitted by employers to ensure quality and compliance.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69497772"/>
                  </a:ext>
                </a:extLst>
              </a:tr>
              <a:tr h="166377">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Platform Admin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38144249"/>
                  </a:ext>
                </a:extLst>
              </a:tr>
              <a:tr h="166377">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79681394"/>
                  </a:ext>
                </a:extLst>
              </a:tr>
              <a:tr h="344225">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admin is logged in with administrative privileges.</a:t>
                      </a:r>
                      <a:br>
                        <a:rPr lang="en-US" sz="1000">
                          <a:effectLst/>
                        </a:rPr>
                      </a:br>
                      <a:r>
                        <a:rPr lang="en-US" sz="1000">
                          <a:effectLst/>
                        </a:rPr>
                        <a:t>2. There are job posts pending moderation.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51595573"/>
                  </a:ext>
                </a:extLst>
              </a:tr>
              <a:tr h="2122698">
                <a:tc>
                  <a:txBody>
                    <a:bodyPr/>
                    <a:lstStyle/>
                    <a:p>
                      <a:pPr>
                        <a:lnSpc>
                          <a:spcPct val="115000"/>
                        </a:lnSpc>
                        <a:spcAft>
                          <a:spcPts val="1000"/>
                        </a:spcAft>
                        <a:buNone/>
                      </a:pPr>
                      <a:r>
                        <a:rPr lang="en-US" sz="1000" dirty="0">
                          <a:effectLst/>
                        </a:rPr>
                        <a:t>Main Flow</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admin navigates to the Moderation Queue.</a:t>
                      </a:r>
                      <a:br>
                        <a:rPr lang="en-US" sz="1000">
                          <a:effectLst/>
                        </a:rPr>
                      </a:br>
                      <a:r>
                        <a:rPr lang="en-US" sz="1000">
                          <a:effectLst/>
                        </a:rPr>
                        <a:t>2. The system displays a list of pending job posts.</a:t>
                      </a:r>
                      <a:br>
                        <a:rPr lang="en-US" sz="1000">
                          <a:effectLst/>
                        </a:rPr>
                      </a:br>
                      <a:r>
                        <a:rPr lang="en-US" sz="1000">
                          <a:effectLst/>
                        </a:rPr>
                        <a:t>3. The admin selects a job post to review.</a:t>
                      </a:r>
                      <a:br>
                        <a:rPr lang="en-US" sz="1000">
                          <a:effectLst/>
                        </a:rPr>
                      </a:br>
                      <a:r>
                        <a:rPr lang="en-US" sz="1000">
                          <a:effectLst/>
                        </a:rPr>
                        <a:t>4. The system displays the full job post details.</a:t>
                      </a:r>
                      <a:br>
                        <a:rPr lang="en-US" sz="1000">
                          <a:effectLst/>
                        </a:rPr>
                      </a:br>
                      <a:r>
                        <a:rPr lang="en-US" sz="1000">
                          <a:effectLst/>
                        </a:rPr>
                        <a:t>5. The admin reviews the content for compliance with platform policies.</a:t>
                      </a:r>
                      <a:br>
                        <a:rPr lang="en-US" sz="1000">
                          <a:effectLst/>
                        </a:rPr>
                      </a:br>
                      <a:r>
                        <a:rPr lang="en-US" sz="1000">
                          <a:effectLst/>
                        </a:rPr>
                        <a:t>6. The admin selects an action: Approve, Reject, or Request Changes.</a:t>
                      </a:r>
                      <a:br>
                        <a:rPr lang="en-US" sz="1000">
                          <a:effectLst/>
                        </a:rPr>
                      </a:br>
                      <a:r>
                        <a:rPr lang="en-US" sz="1000">
                          <a:effectLst/>
                        </a:rPr>
                        <a:t>7. The system updates the job post status accordingly.</a:t>
                      </a:r>
                      <a:br>
                        <a:rPr lang="en-US" sz="1000">
                          <a:effectLst/>
                        </a:rPr>
                      </a:br>
                      <a:r>
                        <a:rPr lang="en-US" sz="1000">
                          <a:effectLst/>
                        </a:rPr>
                        <a:t>8. The system notifies the employer of the moderation outcome.</a:t>
                      </a:r>
                      <a:br>
                        <a:rPr lang="en-US" sz="1000">
                          <a:effectLst/>
                        </a:rPr>
                      </a:br>
                      <a:r>
                        <a:rPr lang="en-US" sz="1000">
                          <a:effectLst/>
                        </a:rPr>
                        <a:t>9. If approved, the job becomes visible to job seekers.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26661155"/>
                  </a:ext>
                </a:extLst>
              </a:tr>
              <a:tr h="699919">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job post status is updated (Approved / Rejected / Changes Requested).</a:t>
                      </a:r>
                      <a:br>
                        <a:rPr lang="en-US" sz="1000">
                          <a:effectLst/>
                        </a:rPr>
                      </a:br>
                      <a:r>
                        <a:rPr lang="en-US" sz="1000">
                          <a:effectLst/>
                        </a:rPr>
                        <a:t>2. The employer is notified.</a:t>
                      </a:r>
                      <a:br>
                        <a:rPr lang="en-US" sz="1000">
                          <a:effectLst/>
                        </a:rPr>
                      </a:br>
                      <a:r>
                        <a:rPr lang="en-US" sz="1000">
                          <a:effectLst/>
                        </a:rPr>
                        <a:t>3. The moderation action is logged in the audit trail.</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30308618"/>
                  </a:ext>
                </a:extLst>
              </a:tr>
              <a:tr h="699919">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Job post is flagged as suspicious → admin can escalate or ban the employer.</a:t>
                      </a:r>
                      <a:br>
                        <a:rPr lang="en-US" sz="1000" dirty="0">
                          <a:effectLst/>
                        </a:rPr>
                      </a:br>
                      <a:r>
                        <a:rPr lang="en-US" sz="1000" dirty="0">
                          <a:effectLst/>
                        </a:rPr>
                        <a:t>2. Employer is repeat offender → admin can restrict posting privileges.</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5856258"/>
                  </a:ext>
                </a:extLst>
              </a:tr>
            </a:tbl>
          </a:graphicData>
        </a:graphic>
      </p:graphicFrame>
      <p:sp>
        <p:nvSpPr>
          <p:cNvPr id="8" name="TextBox 7">
            <a:extLst>
              <a:ext uri="{FF2B5EF4-FFF2-40B4-BE49-F238E27FC236}">
                <a16:creationId xmlns:a16="http://schemas.microsoft.com/office/drawing/2014/main" id="{AC7A91EC-AB9A-C55E-E59F-FA203E07CC4B}"/>
              </a:ext>
            </a:extLst>
          </p:cNvPr>
          <p:cNvSpPr txBox="1"/>
          <p:nvPr/>
        </p:nvSpPr>
        <p:spPr>
          <a:xfrm>
            <a:off x="6736399" y="818148"/>
            <a:ext cx="6275719" cy="5719514"/>
          </a:xfrm>
          <a:prstGeom prst="rect">
            <a:avLst/>
          </a:prstGeom>
          <a:noFill/>
        </p:spPr>
        <p:txBody>
          <a:bodyPr wrap="square">
            <a:spAutoFit/>
          </a:bodyPr>
          <a:lstStyle/>
          <a:p>
            <a:pPr>
              <a:lnSpc>
                <a:spcPct val="100000"/>
              </a:lnSpc>
              <a:spcAft>
                <a:spcPts val="10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Use Case: Moderate &amp; Verify Job Posts</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 </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99777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AA5497E-C56C-DF55-1E7F-A84B09DD6608}"/>
              </a:ext>
            </a:extLst>
          </p:cNvPr>
          <p:cNvGraphicFramePr>
            <a:graphicFrameLocks noGrp="1"/>
          </p:cNvGraphicFramePr>
          <p:nvPr>
            <p:extLst>
              <p:ext uri="{D42A27DB-BD31-4B8C-83A1-F6EECF244321}">
                <p14:modId xmlns:p14="http://schemas.microsoft.com/office/powerpoint/2010/main" val="3118441238"/>
              </p:ext>
            </p:extLst>
          </p:nvPr>
        </p:nvGraphicFramePr>
        <p:xfrm>
          <a:off x="133975" y="1427687"/>
          <a:ext cx="6471362" cy="4503880"/>
        </p:xfrm>
        <a:graphic>
          <a:graphicData uri="http://schemas.openxmlformats.org/drawingml/2006/table">
            <a:tbl>
              <a:tblPr firstRow="1" firstCol="1" bandRow="1">
                <a:tableStyleId>{5C22544A-7EE6-4342-B048-85BDC9FD1C3A}</a:tableStyleId>
              </a:tblPr>
              <a:tblGrid>
                <a:gridCol w="2033856">
                  <a:extLst>
                    <a:ext uri="{9D8B030D-6E8A-4147-A177-3AD203B41FA5}">
                      <a16:colId xmlns:a16="http://schemas.microsoft.com/office/drawing/2014/main" val="11037536"/>
                    </a:ext>
                  </a:extLst>
                </a:gridCol>
                <a:gridCol w="4437506">
                  <a:extLst>
                    <a:ext uri="{9D8B030D-6E8A-4147-A177-3AD203B41FA5}">
                      <a16:colId xmlns:a16="http://schemas.microsoft.com/office/drawing/2014/main" val="3141317899"/>
                    </a:ext>
                  </a:extLst>
                </a:gridCol>
              </a:tblGrid>
              <a:tr h="194498">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UC-19</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79773997"/>
                  </a:ext>
                </a:extLst>
              </a:tr>
              <a:tr h="402406">
                <a:tc>
                  <a:txBody>
                    <a:bodyPr/>
                    <a:lstStyle/>
                    <a:p>
                      <a:pPr>
                        <a:lnSpc>
                          <a:spcPct val="115000"/>
                        </a:lnSpc>
                        <a:spcAft>
                          <a:spcPts val="1000"/>
                        </a:spcAft>
                        <a:buNone/>
                      </a:pPr>
                      <a:r>
                        <a:rPr lang="en-US" sz="1000">
                          <a:effectLst/>
                        </a:rPr>
                        <a:t>Brief Description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the platform administrator to manage user accounts by locking, unlocking, or permanently deleting them.</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3613211"/>
                  </a:ext>
                </a:extLst>
              </a:tr>
              <a:tr h="194498">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Platform Admin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11851592"/>
                  </a:ext>
                </a:extLst>
              </a:tr>
              <a:tr h="194498">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79095102"/>
                  </a:ext>
                </a:extLst>
              </a:tr>
              <a:tr h="402406">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admin is logged in with administrative privileges.</a:t>
                      </a:r>
                      <a:br>
                        <a:rPr lang="en-US" sz="1000">
                          <a:effectLst/>
                        </a:rPr>
                      </a:br>
                      <a:r>
                        <a:rPr lang="en-US" sz="1000">
                          <a:effectLst/>
                        </a:rPr>
                        <a:t>2. The target user account exists in the system.</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4877844"/>
                  </a:ext>
                </a:extLst>
              </a:tr>
              <a:tr h="1894944">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admin navigates to User Management.</a:t>
                      </a:r>
                      <a:br>
                        <a:rPr lang="en-US" sz="1000">
                          <a:effectLst/>
                        </a:rPr>
                      </a:br>
                      <a:r>
                        <a:rPr lang="en-US" sz="1000">
                          <a:effectLst/>
                        </a:rPr>
                        <a:t>2. The system displays a searchable list of all user accounts.</a:t>
                      </a:r>
                      <a:br>
                        <a:rPr lang="en-US" sz="1000">
                          <a:effectLst/>
                        </a:rPr>
                      </a:br>
                      <a:r>
                        <a:rPr lang="en-US" sz="1000">
                          <a:effectLst/>
                        </a:rPr>
                        <a:t>3. The admin searches for and selects a specific user.</a:t>
                      </a:r>
                      <a:br>
                        <a:rPr lang="en-US" sz="1000">
                          <a:effectLst/>
                        </a:rPr>
                      </a:br>
                      <a:r>
                        <a:rPr lang="en-US" sz="1000">
                          <a:effectLst/>
                        </a:rPr>
                        <a:t>4. The system displays the user's account details and current status.</a:t>
                      </a:r>
                      <a:br>
                        <a:rPr lang="en-US" sz="1000">
                          <a:effectLst/>
                        </a:rPr>
                      </a:br>
                      <a:r>
                        <a:rPr lang="en-US" sz="1000">
                          <a:effectLst/>
                        </a:rPr>
                        <a:t>5. The admin selects an action: Lock Account, Unlock Account, or Delete Account.</a:t>
                      </a:r>
                      <a:br>
                        <a:rPr lang="en-US" sz="1000">
                          <a:effectLst/>
                        </a:rPr>
                      </a:br>
                      <a:r>
                        <a:rPr lang="en-US" sz="1000">
                          <a:effectLst/>
                        </a:rPr>
                        <a:t>6. The system prompts the admin for confirmation.</a:t>
                      </a:r>
                      <a:br>
                        <a:rPr lang="en-US" sz="1000">
                          <a:effectLst/>
                        </a:rPr>
                      </a:br>
                      <a:r>
                        <a:rPr lang="en-US" sz="1000">
                          <a:effectLst/>
                        </a:rPr>
                        <a:t>7. Upon confirmation, the system executes the action.</a:t>
                      </a:r>
                      <a:br>
                        <a:rPr lang="en-US" sz="1000">
                          <a:effectLst/>
                        </a:rPr>
                      </a:br>
                      <a:r>
                        <a:rPr lang="en-US" sz="1000">
                          <a:effectLst/>
                        </a:rPr>
                        <a:t>8. The system logs the action in the audit trail.</a:t>
                      </a:r>
                      <a:br>
                        <a:rPr lang="en-US" sz="1000">
                          <a:effectLst/>
                        </a:rPr>
                      </a:br>
                      <a:r>
                        <a:rPr lang="en-US" sz="1000">
                          <a:effectLst/>
                        </a:rPr>
                        <a:t>9. If locked/deleted, the system notifies the user via email.</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41150084"/>
                  </a:ext>
                </a:extLst>
              </a:tr>
              <a:tr h="610315">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user account status is updated or the account is removed.</a:t>
                      </a:r>
                      <a:br>
                        <a:rPr lang="en-US" sz="1000">
                          <a:effectLst/>
                        </a:rPr>
                      </a:br>
                      <a:r>
                        <a:rPr lang="en-US" sz="1000">
                          <a:effectLst/>
                        </a:rPr>
                        <a:t>2. The action is recorded in the system audit logs.</a:t>
                      </a:r>
                      <a:br>
                        <a:rPr lang="en-US" sz="1000">
                          <a:effectLst/>
                        </a:rPr>
                      </a:br>
                      <a:r>
                        <a:rPr lang="en-US" sz="1000">
                          <a:effectLst/>
                        </a:rPr>
                        <a:t>3. The affected user is notified (if applicable).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24523119"/>
                  </a:ext>
                </a:extLst>
              </a:tr>
              <a:tr h="610315">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Admin attempts to delete own account → system prevents it.</a:t>
                      </a:r>
                      <a:br>
                        <a:rPr lang="en-US" sz="1000" dirty="0">
                          <a:effectLst/>
                        </a:rPr>
                      </a:br>
                      <a:r>
                        <a:rPr lang="en-US" sz="1000" dirty="0">
                          <a:effectLst/>
                        </a:rPr>
                        <a:t>2. User has active applications/jobs → system warns before deletion.</a:t>
                      </a:r>
                      <a:br>
                        <a:rPr lang="en-US" sz="1000" dirty="0">
                          <a:effectLst/>
                        </a:rPr>
                      </a:br>
                      <a:r>
                        <a:rPr lang="en-US" sz="1000" dirty="0">
                          <a:effectLst/>
                        </a:rPr>
                        <a:t>3. User is already in the requested state → system shows a message.</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01174868"/>
                  </a:ext>
                </a:extLst>
              </a:tr>
            </a:tbl>
          </a:graphicData>
        </a:graphic>
      </p:graphicFrame>
      <p:sp>
        <p:nvSpPr>
          <p:cNvPr id="4" name="TextBox 3">
            <a:extLst>
              <a:ext uri="{FF2B5EF4-FFF2-40B4-BE49-F238E27FC236}">
                <a16:creationId xmlns:a16="http://schemas.microsoft.com/office/drawing/2014/main" id="{8403602A-D573-4320-3928-A67CF08F088C}"/>
              </a:ext>
            </a:extLst>
          </p:cNvPr>
          <p:cNvSpPr txBox="1"/>
          <p:nvPr/>
        </p:nvSpPr>
        <p:spPr>
          <a:xfrm>
            <a:off x="1900990" y="709863"/>
            <a:ext cx="6161174" cy="5481594"/>
          </a:xfrm>
          <a:prstGeom prst="rect">
            <a:avLst/>
          </a:prstGeom>
          <a:noFill/>
        </p:spPr>
        <p:txBody>
          <a:bodyPr wrap="square">
            <a:spAutoFit/>
          </a:bodyPr>
          <a:lstStyle/>
          <a:p>
            <a:pPr>
              <a:lnSpc>
                <a:spcPct val="100000"/>
              </a:lnSpc>
              <a:spcAft>
                <a:spcPts val="1000"/>
              </a:spcAft>
              <a:buNone/>
            </a:pPr>
            <a:r>
              <a:rPr lang="en-US" sz="1800" b="1">
                <a:solidFill>
                  <a:schemeClr val="tx1"/>
                </a:solidFill>
                <a:effectLst/>
                <a:latin typeface="+mn-lt"/>
                <a:ea typeface="MS Mincho" panose="02020609040205080304" pitchFamily="49" charset="-128"/>
                <a:cs typeface="Times New Roman" panose="02020603050405020304" pitchFamily="18" charset="0"/>
              </a:rPr>
              <a:t>Use Case: Manage Users (Lock / Unlock / Delete)</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00422618-4109-07ED-BEB9-AC340DC88B44}"/>
              </a:ext>
            </a:extLst>
          </p:cNvPr>
          <p:cNvGraphicFramePr>
            <a:graphicFrameLocks noGrp="1"/>
          </p:cNvGraphicFramePr>
          <p:nvPr>
            <p:extLst>
              <p:ext uri="{D42A27DB-BD31-4B8C-83A1-F6EECF244321}">
                <p14:modId xmlns:p14="http://schemas.microsoft.com/office/powerpoint/2010/main" val="2948204653"/>
              </p:ext>
            </p:extLst>
          </p:nvPr>
        </p:nvGraphicFramePr>
        <p:xfrm>
          <a:off x="7064538" y="1427609"/>
          <a:ext cx="4389525" cy="4980049"/>
        </p:xfrm>
        <a:graphic>
          <a:graphicData uri="http://schemas.openxmlformats.org/drawingml/2006/table">
            <a:tbl>
              <a:tblPr firstRow="1" firstCol="1" bandRow="1">
                <a:tableStyleId>{5C22544A-7EE6-4342-B048-85BDC9FD1C3A}</a:tableStyleId>
              </a:tblPr>
              <a:tblGrid>
                <a:gridCol w="1379565">
                  <a:extLst>
                    <a:ext uri="{9D8B030D-6E8A-4147-A177-3AD203B41FA5}">
                      <a16:colId xmlns:a16="http://schemas.microsoft.com/office/drawing/2014/main" val="2900025945"/>
                    </a:ext>
                  </a:extLst>
                </a:gridCol>
                <a:gridCol w="3009960">
                  <a:extLst>
                    <a:ext uri="{9D8B030D-6E8A-4147-A177-3AD203B41FA5}">
                      <a16:colId xmlns:a16="http://schemas.microsoft.com/office/drawing/2014/main" val="1582901638"/>
                    </a:ext>
                  </a:extLst>
                </a:gridCol>
              </a:tblGrid>
              <a:tr h="155109">
                <a:tc>
                  <a:txBody>
                    <a:bodyPr/>
                    <a:lstStyle/>
                    <a:p>
                      <a:pPr>
                        <a:lnSpc>
                          <a:spcPct val="115000"/>
                        </a:lnSpc>
                        <a:spcAft>
                          <a:spcPts val="1000"/>
                        </a:spcAft>
                        <a:buNone/>
                      </a:pPr>
                      <a:r>
                        <a:rPr lang="en-US" sz="1000">
                          <a:effectLst/>
                        </a:rPr>
                        <a:t>ID</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UC-20</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75183285"/>
                  </a:ext>
                </a:extLst>
              </a:tr>
              <a:tr h="652515">
                <a:tc>
                  <a:txBody>
                    <a:bodyPr/>
                    <a:lstStyle/>
                    <a:p>
                      <a:pPr>
                        <a:lnSpc>
                          <a:spcPct val="115000"/>
                        </a:lnSpc>
                        <a:spcAft>
                          <a:spcPts val="1000"/>
                        </a:spcAft>
                        <a:buNone/>
                      </a:pPr>
                      <a:r>
                        <a:rPr lang="en-US" sz="1000" dirty="0">
                          <a:effectLst/>
                        </a:rPr>
                        <a:t>Brief Description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Allows the platform administrator to view a comprehensive log of all significant system actions performed by users and admins for security and compliance.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50211719"/>
                  </a:ext>
                </a:extLst>
              </a:tr>
              <a:tr h="155109">
                <a:tc>
                  <a:txBody>
                    <a:bodyPr/>
                    <a:lstStyle/>
                    <a:p>
                      <a:pPr>
                        <a:lnSpc>
                          <a:spcPct val="115000"/>
                        </a:lnSpc>
                        <a:spcAft>
                          <a:spcPts val="1000"/>
                        </a:spcAft>
                        <a:buNone/>
                      </a:pPr>
                      <a:r>
                        <a:rPr lang="en-US" sz="1000">
                          <a:effectLst/>
                        </a:rPr>
                        <a:t>Primary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Platform Admin</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54654937"/>
                  </a:ext>
                </a:extLst>
              </a:tr>
              <a:tr h="155109">
                <a:tc>
                  <a:txBody>
                    <a:bodyPr/>
                    <a:lstStyle/>
                    <a:p>
                      <a:pPr>
                        <a:lnSpc>
                          <a:spcPct val="115000"/>
                        </a:lnSpc>
                        <a:spcAft>
                          <a:spcPts val="1000"/>
                        </a:spcAft>
                        <a:buNone/>
                      </a:pPr>
                      <a:r>
                        <a:rPr lang="en-US" sz="1000">
                          <a:effectLst/>
                        </a:rPr>
                        <a:t>Secondary Actor</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None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18273554"/>
                  </a:ext>
                </a:extLst>
              </a:tr>
              <a:tr h="486713">
                <a:tc>
                  <a:txBody>
                    <a:bodyPr/>
                    <a:lstStyle/>
                    <a:p>
                      <a:pPr>
                        <a:lnSpc>
                          <a:spcPct val="115000"/>
                        </a:lnSpc>
                        <a:spcAft>
                          <a:spcPts val="1000"/>
                        </a:spcAft>
                        <a:buNone/>
                      </a:pPr>
                      <a:r>
                        <a:rPr lang="en-US" sz="1000">
                          <a:effectLst/>
                        </a:rPr>
                        <a:t>Preconditions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admin is logged in with administrative privileges.</a:t>
                      </a:r>
                      <a:br>
                        <a:rPr lang="en-US" sz="1000">
                          <a:effectLst/>
                        </a:rPr>
                      </a:br>
                      <a:r>
                        <a:rPr lang="en-US" sz="1000">
                          <a:effectLst/>
                        </a:rPr>
                        <a:t>2. The audit logging service is operational.</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79115324"/>
                  </a:ext>
                </a:extLst>
              </a:tr>
              <a:tr h="1813131">
                <a:tc>
                  <a:txBody>
                    <a:bodyPr/>
                    <a:lstStyle/>
                    <a:p>
                      <a:pPr>
                        <a:lnSpc>
                          <a:spcPct val="115000"/>
                        </a:lnSpc>
                        <a:spcAft>
                          <a:spcPts val="1000"/>
                        </a:spcAft>
                        <a:buNone/>
                      </a:pPr>
                      <a:r>
                        <a:rPr lang="en-US" sz="1000">
                          <a:effectLst/>
                        </a:rPr>
                        <a:t>Main Flow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admin navigates to System Audit Logs.</a:t>
                      </a:r>
                      <a:br>
                        <a:rPr lang="en-US" sz="1000">
                          <a:effectLst/>
                        </a:rPr>
                      </a:br>
                      <a:r>
                        <a:rPr lang="en-US" sz="1000">
                          <a:effectLst/>
                        </a:rPr>
                        <a:t>2. The system retrieves log entries from the audit database.</a:t>
                      </a:r>
                      <a:br>
                        <a:rPr lang="en-US" sz="1000">
                          <a:effectLst/>
                        </a:rPr>
                      </a:br>
                      <a:r>
                        <a:rPr lang="en-US" sz="1000">
                          <a:effectLst/>
                        </a:rPr>
                        <a:t>3. The system displays the logs in a table (timestamp, actor, action type, target entity, IP address, result).</a:t>
                      </a:r>
                      <a:br>
                        <a:rPr lang="en-US" sz="1000">
                          <a:effectLst/>
                        </a:rPr>
                      </a:br>
                      <a:r>
                        <a:rPr lang="en-US" sz="1000">
                          <a:effectLst/>
                        </a:rPr>
                        <a:t>4. The admin applies filters (date range, user, action type).</a:t>
                      </a:r>
                      <a:br>
                        <a:rPr lang="en-US" sz="1000">
                          <a:effectLst/>
                        </a:rPr>
                      </a:br>
                      <a:r>
                        <a:rPr lang="en-US" sz="1000">
                          <a:effectLst/>
                        </a:rPr>
                        <a:t>5. The system updates the displayed logs based on filters.</a:t>
                      </a:r>
                      <a:br>
                        <a:rPr lang="en-US" sz="1000">
                          <a:effectLst/>
                        </a:rPr>
                      </a:br>
                      <a:r>
                        <a:rPr lang="en-US" sz="1000">
                          <a:effectLst/>
                        </a:rPr>
                        <a:t>6. The admin can export the filtered logs to a file.</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94229134"/>
                  </a:ext>
                </a:extLst>
              </a:tr>
              <a:tr h="486713">
                <a:tc>
                  <a:txBody>
                    <a:bodyPr/>
                    <a:lstStyle/>
                    <a:p>
                      <a:pPr>
                        <a:lnSpc>
                          <a:spcPct val="115000"/>
                        </a:lnSpc>
                        <a:spcAft>
                          <a:spcPts val="1000"/>
                        </a:spcAft>
                        <a:buNone/>
                      </a:pPr>
                      <a:r>
                        <a:rPr lang="en-US" sz="1000">
                          <a:effectLst/>
                        </a:rPr>
                        <a:t>Post Conditions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a:effectLst/>
                        </a:rPr>
                        <a:t>1. The audit logs are successfully displayed.</a:t>
                      </a:r>
                      <a:br>
                        <a:rPr lang="en-US" sz="1000">
                          <a:effectLst/>
                        </a:rPr>
                      </a:br>
                      <a:r>
                        <a:rPr lang="en-US" sz="1000">
                          <a:effectLst/>
                        </a:rPr>
                        <a:t>2. The admin can review, filter, or export the logs for compliance review.</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97611931"/>
                  </a:ext>
                </a:extLst>
              </a:tr>
              <a:tr h="984120">
                <a:tc>
                  <a:txBody>
                    <a:bodyPr/>
                    <a:lstStyle/>
                    <a:p>
                      <a:pPr>
                        <a:lnSpc>
                          <a:spcPct val="115000"/>
                        </a:lnSpc>
                        <a:spcAft>
                          <a:spcPts val="1000"/>
                        </a:spcAft>
                        <a:buNone/>
                      </a:pPr>
                      <a:r>
                        <a:rPr lang="en-US" sz="1000">
                          <a:effectLst/>
                        </a:rPr>
                        <a:t>Alternative Flows</a:t>
                      </a:r>
                      <a:endParaRPr lang="en-IN"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000" dirty="0">
                          <a:effectLst/>
                        </a:rPr>
                        <a:t>1. No logs match the filter → system shows 'No results found'.</a:t>
                      </a:r>
                      <a:br>
                        <a:rPr lang="en-US" sz="1000" dirty="0">
                          <a:effectLst/>
                        </a:rPr>
                      </a:br>
                      <a:r>
                        <a:rPr lang="en-US" sz="1000" dirty="0">
                          <a:effectLst/>
                        </a:rPr>
                        <a:t>2. Log database is large → system paginates results.</a:t>
                      </a:r>
                      <a:br>
                        <a:rPr lang="en-US" sz="1000" dirty="0">
                          <a:effectLst/>
                        </a:rPr>
                      </a:br>
                      <a:r>
                        <a:rPr lang="en-US" sz="1000" dirty="0">
                          <a:effectLst/>
                        </a:rPr>
                        <a:t>3. Export fails → system shows error and retry option.</a:t>
                      </a:r>
                      <a:endParaRPr lang="en-IN"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98258864"/>
                  </a:ext>
                </a:extLst>
              </a:tr>
            </a:tbl>
          </a:graphicData>
        </a:graphic>
      </p:graphicFrame>
      <p:sp>
        <p:nvSpPr>
          <p:cNvPr id="7" name="TextBox 6">
            <a:extLst>
              <a:ext uri="{FF2B5EF4-FFF2-40B4-BE49-F238E27FC236}">
                <a16:creationId xmlns:a16="http://schemas.microsoft.com/office/drawing/2014/main" id="{5100B66C-B932-C488-2A9F-28DB65403D95}"/>
              </a:ext>
            </a:extLst>
          </p:cNvPr>
          <p:cNvSpPr txBox="1"/>
          <p:nvPr/>
        </p:nvSpPr>
        <p:spPr>
          <a:xfrm>
            <a:off x="7209183" y="666543"/>
            <a:ext cx="5161021" cy="4888518"/>
          </a:xfrm>
          <a:prstGeom prst="rect">
            <a:avLst/>
          </a:prstGeom>
          <a:noFill/>
        </p:spPr>
        <p:txBody>
          <a:bodyPr wrap="square">
            <a:spAutoFit/>
          </a:bodyPr>
          <a:lstStyle/>
          <a:p>
            <a:pPr>
              <a:lnSpc>
                <a:spcPct val="100000"/>
              </a:lnSpc>
              <a:spcAft>
                <a:spcPts val="1000"/>
              </a:spcAft>
              <a:buNone/>
            </a:pPr>
            <a:r>
              <a:rPr lang="en-US" sz="1800" b="1" dirty="0">
                <a:solidFill>
                  <a:schemeClr val="tx1"/>
                </a:solidFill>
                <a:effectLst/>
                <a:latin typeface="+mn-lt"/>
                <a:ea typeface="MS Mincho" panose="02020609040205080304" pitchFamily="49" charset="-128"/>
                <a:cs typeface="Times New Roman" panose="02020603050405020304" pitchFamily="18" charset="0"/>
              </a:rPr>
              <a:t>Use Case: View System Audit Logs</a:t>
            </a: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gn="ctr">
              <a:lnSpc>
                <a:spcPct val="100000"/>
              </a:lnSpc>
              <a:spcAft>
                <a:spcPts val="1000"/>
              </a:spcAft>
              <a:buNone/>
            </a:pPr>
            <a:br>
              <a:rPr lang="en-US" sz="1800" dirty="0">
                <a:solidFill>
                  <a:schemeClr val="tx1"/>
                </a:solidFill>
                <a:effectLst/>
                <a:latin typeface="+mn-lt"/>
                <a:ea typeface="MS Mincho" panose="02020609040205080304" pitchFamily="49" charset="-128"/>
                <a:cs typeface="Times New Roman" panose="02020603050405020304" pitchFamily="18" charset="0"/>
              </a:rPr>
            </a:br>
            <a:br>
              <a:rPr lang="en-US" sz="1800" dirty="0">
                <a:solidFill>
                  <a:schemeClr val="tx1"/>
                </a:solidFill>
                <a:effectLst/>
                <a:latin typeface="+mn-lt"/>
                <a:ea typeface="MS Mincho" panose="02020609040205080304" pitchFamily="49" charset="-128"/>
                <a:cs typeface="Times New Roman" panose="02020603050405020304" pitchFamily="18" charset="0"/>
              </a:rPr>
            </a:br>
            <a:endParaRPr lang="en-IN" sz="1800" dirty="0">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effectLst/>
                <a:latin typeface="+mn-lt"/>
                <a:ea typeface="MS Mincho" panose="02020609040205080304" pitchFamily="49" charset="-128"/>
                <a:cs typeface="Times New Roman" panose="02020603050405020304" pitchFamily="18" charset="0"/>
              </a:rPr>
              <a:t> </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453261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52103" y="2585620"/>
            <a:ext cx="4183389" cy="923330"/>
          </a:xfrm>
          <a:prstGeom prst="rect">
            <a:avLst/>
          </a:prstGeom>
        </p:spPr>
        <p:txBody>
          <a:bodyPr wrap="none">
            <a:spAutoFit/>
          </a:bodyPr>
          <a:lstStyle/>
          <a:p>
            <a:pPr>
              <a:defRPr sz="2600" b="1">
                <a:solidFill>
                  <a:srgbClr val="FFFFFF"/>
                </a:solidFill>
              </a:defRPr>
            </a:pPr>
            <a:r>
              <a:rPr lang="en-IN" sz="5400" dirty="0">
                <a:solidFill>
                  <a:schemeClr val="tx1">
                    <a:lumMod val="95000"/>
                    <a:lumOff val="5000"/>
                  </a:schemeClr>
                </a:solidFill>
              </a:rPr>
              <a:t>Class Diagram</a:t>
            </a:r>
          </a:p>
        </p:txBody>
      </p:sp>
    </p:spTree>
    <p:extLst>
      <p:ext uri="{BB962C8B-B14F-4D97-AF65-F5344CB8AC3E}">
        <p14:creationId xmlns:p14="http://schemas.microsoft.com/office/powerpoint/2010/main" val="39188285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972800" cy="384048"/>
          </a:xfrm>
          <a:prstGeom prst="rect">
            <a:avLst/>
          </a:prstGeom>
          <a:noFill/>
        </p:spPr>
        <p:txBody>
          <a:bodyPr wrap="none">
            <a:spAutoFit/>
          </a:bodyPr>
          <a:lstStyle/>
          <a:p>
            <a:pPr>
              <a:defRPr sz="2600" b="1">
                <a:solidFill>
                  <a:srgbClr val="FFFFFF"/>
                </a:solidFill>
              </a:defRPr>
            </a:pPr>
            <a:r>
              <a:rPr dirty="0"/>
              <a:t>9. Class Diagram</a:t>
            </a:r>
          </a:p>
        </p:txBody>
      </p:sp>
      <p:sp>
        <p:nvSpPr>
          <p:cNvPr id="20" name="TextBox 19"/>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10</a:t>
            </a:r>
          </a:p>
        </p:txBody>
      </p:sp>
      <p:pic>
        <p:nvPicPr>
          <p:cNvPr id="22" name="Picture 21">
            <a:extLst>
              <a:ext uri="{FF2B5EF4-FFF2-40B4-BE49-F238E27FC236}">
                <a16:creationId xmlns:a16="http://schemas.microsoft.com/office/drawing/2014/main" id="{48A17536-46B8-BB39-751B-F3C405D1096B}"/>
              </a:ext>
            </a:extLst>
          </p:cNvPr>
          <p:cNvPicPr>
            <a:picLocks noChangeAspect="1"/>
          </p:cNvPicPr>
          <p:nvPr/>
        </p:nvPicPr>
        <p:blipFill>
          <a:blip r:embed="rId2"/>
          <a:srcRect/>
          <a:stretch/>
        </p:blipFill>
        <p:spPr>
          <a:xfrm>
            <a:off x="5039738" y="658368"/>
            <a:ext cx="2356364" cy="619963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9363" y="2371016"/>
            <a:ext cx="6505224" cy="1754326"/>
          </a:xfrm>
          <a:prstGeom prst="rect">
            <a:avLst/>
          </a:prstGeom>
        </p:spPr>
        <p:txBody>
          <a:bodyPr wrap="square">
            <a:spAutoFit/>
          </a:bodyPr>
          <a:lstStyle/>
          <a:p>
            <a:pPr algn="ctr">
              <a:defRPr sz="2600" b="1">
                <a:solidFill>
                  <a:srgbClr val="FFFFFF"/>
                </a:solidFill>
              </a:defRPr>
            </a:pPr>
            <a:r>
              <a:rPr lang="en-US" sz="5400" dirty="0">
                <a:solidFill>
                  <a:schemeClr val="tx1">
                    <a:lumMod val="95000"/>
                    <a:lumOff val="5000"/>
                  </a:schemeClr>
                </a:solidFill>
              </a:rPr>
              <a:t>Sequence Diagram – Apply for Job</a:t>
            </a:r>
          </a:p>
        </p:txBody>
      </p:sp>
    </p:spTree>
    <p:extLst>
      <p:ext uri="{BB962C8B-B14F-4D97-AF65-F5344CB8AC3E}">
        <p14:creationId xmlns:p14="http://schemas.microsoft.com/office/powerpoint/2010/main" val="4760756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3340082" cy="492443"/>
          </a:xfrm>
          <a:prstGeom prst="rect">
            <a:avLst/>
          </a:prstGeom>
          <a:noFill/>
        </p:spPr>
        <p:txBody>
          <a:bodyPr wrap="none">
            <a:spAutoFit/>
          </a:bodyPr>
          <a:lstStyle/>
          <a:p>
            <a:pPr>
              <a:defRPr sz="2600" b="1">
                <a:solidFill>
                  <a:srgbClr val="FFFFFF"/>
                </a:solidFill>
              </a:defRPr>
            </a:pPr>
            <a:r>
              <a:rPr dirty="0"/>
              <a:t>10. Sequence Diagram </a:t>
            </a:r>
          </a:p>
        </p:txBody>
      </p:sp>
      <p:sp>
        <p:nvSpPr>
          <p:cNvPr id="30" name="TextBox 29"/>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11</a:t>
            </a:r>
          </a:p>
        </p:txBody>
      </p:sp>
      <p:sp>
        <p:nvSpPr>
          <p:cNvPr id="31" name="TextBox 30">
            <a:extLst>
              <a:ext uri="{FF2B5EF4-FFF2-40B4-BE49-F238E27FC236}">
                <a16:creationId xmlns:a16="http://schemas.microsoft.com/office/drawing/2014/main" id="{02BCBABB-75D1-D8C8-97E1-F289922950A1}"/>
              </a:ext>
            </a:extLst>
          </p:cNvPr>
          <p:cNvSpPr txBox="1"/>
          <p:nvPr/>
        </p:nvSpPr>
        <p:spPr>
          <a:xfrm>
            <a:off x="2157059" y="656582"/>
            <a:ext cx="184731" cy="369332"/>
          </a:xfrm>
          <a:prstGeom prst="rect">
            <a:avLst/>
          </a:prstGeom>
          <a:noFill/>
        </p:spPr>
        <p:txBody>
          <a:bodyPr wrap="none" rtlCol="0">
            <a:spAutoFit/>
          </a:bodyPr>
          <a:lstStyle/>
          <a:p>
            <a:endParaRPr lang="en-IN"/>
          </a:p>
        </p:txBody>
      </p:sp>
      <p:pic>
        <p:nvPicPr>
          <p:cNvPr id="34" name="Picture 33">
            <a:extLst>
              <a:ext uri="{FF2B5EF4-FFF2-40B4-BE49-F238E27FC236}">
                <a16:creationId xmlns:a16="http://schemas.microsoft.com/office/drawing/2014/main" id="{DA5C09C7-1BB1-5DFC-B814-6E758E7F94E7}"/>
              </a:ext>
            </a:extLst>
          </p:cNvPr>
          <p:cNvPicPr>
            <a:picLocks noChangeAspect="1"/>
          </p:cNvPicPr>
          <p:nvPr/>
        </p:nvPicPr>
        <p:blipFill>
          <a:blip r:embed="rId2"/>
          <a:stretch>
            <a:fillRect/>
          </a:stretch>
        </p:blipFill>
        <p:spPr>
          <a:xfrm>
            <a:off x="3324113" y="611315"/>
            <a:ext cx="5690795" cy="624668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9952" y="2258008"/>
            <a:ext cx="6215975" cy="2585323"/>
          </a:xfrm>
          <a:prstGeom prst="rect">
            <a:avLst/>
          </a:prstGeom>
        </p:spPr>
        <p:txBody>
          <a:bodyPr wrap="square">
            <a:spAutoFit/>
          </a:bodyPr>
          <a:lstStyle/>
          <a:p>
            <a:pPr algn="ctr">
              <a:defRPr sz="2600" b="1">
                <a:solidFill>
                  <a:srgbClr val="FFFFFF"/>
                </a:solidFill>
              </a:defRPr>
            </a:pPr>
            <a:r>
              <a:rPr lang="en-US" sz="5400" dirty="0">
                <a:solidFill>
                  <a:schemeClr val="tx1">
                    <a:lumMod val="95000"/>
                    <a:lumOff val="5000"/>
                  </a:schemeClr>
                </a:solidFill>
              </a:rPr>
              <a:t>Activity Diagram – Job Application</a:t>
            </a:r>
          </a:p>
          <a:p>
            <a:pPr>
              <a:defRPr sz="2600" b="1">
                <a:solidFill>
                  <a:srgbClr val="FFFFFF"/>
                </a:solidFill>
              </a:defRPr>
            </a:pPr>
            <a:endParaRPr lang="en-US" sz="5400" dirty="0">
              <a:solidFill>
                <a:schemeClr val="tx1">
                  <a:lumMod val="95000"/>
                  <a:lumOff val="5000"/>
                </a:schemeClr>
              </a:solidFill>
            </a:endParaRPr>
          </a:p>
        </p:txBody>
      </p:sp>
    </p:spTree>
    <p:extLst>
      <p:ext uri="{BB962C8B-B14F-4D97-AF65-F5344CB8AC3E}">
        <p14:creationId xmlns:p14="http://schemas.microsoft.com/office/powerpoint/2010/main" val="17646616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3051541" cy="492443"/>
          </a:xfrm>
          <a:prstGeom prst="rect">
            <a:avLst/>
          </a:prstGeom>
          <a:noFill/>
        </p:spPr>
        <p:txBody>
          <a:bodyPr wrap="none">
            <a:spAutoFit/>
          </a:bodyPr>
          <a:lstStyle/>
          <a:p>
            <a:pPr>
              <a:defRPr sz="2600" b="1">
                <a:solidFill>
                  <a:srgbClr val="FFFFFF"/>
                </a:solidFill>
              </a:defRPr>
            </a:pPr>
            <a:r>
              <a:rPr dirty="0"/>
              <a:t>11. Activity Diagram </a:t>
            </a:r>
          </a:p>
        </p:txBody>
      </p:sp>
      <p:sp>
        <p:nvSpPr>
          <p:cNvPr id="22" name="TextBox 21"/>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12</a:t>
            </a:r>
          </a:p>
        </p:txBody>
      </p:sp>
      <p:pic>
        <p:nvPicPr>
          <p:cNvPr id="5" name="Picture 4">
            <a:extLst>
              <a:ext uri="{FF2B5EF4-FFF2-40B4-BE49-F238E27FC236}">
                <a16:creationId xmlns:a16="http://schemas.microsoft.com/office/drawing/2014/main" id="{ACF14406-CF26-6F72-C092-7107E8A6C9BE}"/>
              </a:ext>
            </a:extLst>
          </p:cNvPr>
          <p:cNvPicPr>
            <a:picLocks noChangeAspect="1"/>
          </p:cNvPicPr>
          <p:nvPr/>
        </p:nvPicPr>
        <p:blipFill>
          <a:blip r:embed="rId2"/>
          <a:srcRect/>
          <a:stretch/>
        </p:blipFill>
        <p:spPr>
          <a:xfrm>
            <a:off x="3978055" y="611314"/>
            <a:ext cx="4235890" cy="624668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0947" y="2566958"/>
            <a:ext cx="8226034" cy="1754326"/>
          </a:xfrm>
          <a:prstGeom prst="rect">
            <a:avLst/>
          </a:prstGeom>
        </p:spPr>
        <p:txBody>
          <a:bodyPr wrap="none">
            <a:spAutoFit/>
          </a:bodyPr>
          <a:lstStyle/>
          <a:p>
            <a:pPr>
              <a:defRPr sz="2600" b="1">
                <a:solidFill>
                  <a:srgbClr val="FFFFFF"/>
                </a:solidFill>
              </a:defRPr>
            </a:pPr>
            <a:r>
              <a:rPr lang="en-IN" sz="5400" dirty="0">
                <a:solidFill>
                  <a:schemeClr val="tx1">
                    <a:lumMod val="95000"/>
                    <a:lumOff val="5000"/>
                  </a:schemeClr>
                </a:solidFill>
              </a:rPr>
              <a:t>System Architecture &amp; Tools</a:t>
            </a:r>
          </a:p>
          <a:p>
            <a:pPr>
              <a:defRPr sz="2600" b="1">
                <a:solidFill>
                  <a:srgbClr val="FFFFFF"/>
                </a:solidFill>
              </a:defRPr>
            </a:pPr>
            <a:endParaRPr lang="en-US" sz="5400" dirty="0">
              <a:solidFill>
                <a:schemeClr val="tx1">
                  <a:lumMod val="95000"/>
                  <a:lumOff val="5000"/>
                </a:schemeClr>
              </a:solidFill>
            </a:endParaRPr>
          </a:p>
        </p:txBody>
      </p:sp>
    </p:spTree>
    <p:extLst>
      <p:ext uri="{BB962C8B-B14F-4D97-AF65-F5344CB8AC3E}">
        <p14:creationId xmlns:p14="http://schemas.microsoft.com/office/powerpoint/2010/main" val="2370435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972800" cy="384048"/>
          </a:xfrm>
          <a:prstGeom prst="rect">
            <a:avLst/>
          </a:prstGeom>
          <a:noFill/>
        </p:spPr>
        <p:txBody>
          <a:bodyPr wrap="none">
            <a:spAutoFit/>
          </a:bodyPr>
          <a:lstStyle/>
          <a:p>
            <a:pPr>
              <a:defRPr sz="2600" b="1">
                <a:solidFill>
                  <a:srgbClr val="FFFFFF"/>
                </a:solidFill>
              </a:defRPr>
            </a:pPr>
            <a:r>
              <a:rPr dirty="0"/>
              <a:t>12. System Architecture &amp; Tools</a:t>
            </a:r>
          </a:p>
        </p:txBody>
      </p:sp>
      <p:sp>
        <p:nvSpPr>
          <p:cNvPr id="4" name="Rounded Rectangle 3"/>
          <p:cNvSpPr/>
          <p:nvPr/>
        </p:nvSpPr>
        <p:spPr>
          <a:xfrm>
            <a:off x="594360" y="1234440"/>
            <a:ext cx="3474720" cy="4297680"/>
          </a:xfrm>
          <a:prstGeom prst="roundRect">
            <a:avLst/>
          </a:prstGeom>
          <a:solidFill>
            <a:srgbClr val="F2F6FC"/>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234440"/>
            <a:ext cx="73152" cy="4297680"/>
          </a:xfrm>
          <a:prstGeom prst="rect">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399032"/>
            <a:ext cx="3063239" cy="411480"/>
          </a:xfrm>
          <a:prstGeom prst="rect">
            <a:avLst/>
          </a:prstGeom>
          <a:noFill/>
        </p:spPr>
        <p:txBody>
          <a:bodyPr wrap="none">
            <a:spAutoFit/>
          </a:bodyPr>
          <a:lstStyle/>
          <a:p>
            <a:pPr>
              <a:defRPr sz="1700" b="1">
                <a:solidFill>
                  <a:srgbClr val="182B4D"/>
                </a:solidFill>
              </a:defRPr>
            </a:pPr>
            <a:r>
              <a:t>Frontend</a:t>
            </a:r>
          </a:p>
        </p:txBody>
      </p:sp>
      <p:sp>
        <p:nvSpPr>
          <p:cNvPr id="7" name="TextBox 6"/>
          <p:cNvSpPr txBox="1"/>
          <p:nvPr/>
        </p:nvSpPr>
        <p:spPr>
          <a:xfrm>
            <a:off x="822960" y="1920240"/>
            <a:ext cx="3063239" cy="3383280"/>
          </a:xfrm>
          <a:prstGeom prst="rect">
            <a:avLst/>
          </a:prstGeom>
          <a:noFill/>
        </p:spPr>
        <p:txBody>
          <a:bodyPr wrap="square">
            <a:spAutoFit/>
          </a:bodyPr>
          <a:lstStyle/>
          <a:p>
            <a:pPr>
              <a:defRPr sz="1300">
                <a:solidFill>
                  <a:srgbClr val="232A34"/>
                </a:solidFill>
              </a:defRPr>
            </a:pPr>
            <a:r>
              <a:t>React</a:t>
            </a:r>
            <a:br/>
            <a:r>
              <a:t>HTML</a:t>
            </a:r>
            <a:br/>
            <a:r>
              <a:t>CSS</a:t>
            </a:r>
            <a:br/>
            <a:r>
              <a:t>Tailwind CSS</a:t>
            </a:r>
            <a:br/>
            <a:r>
              <a:t>Axios</a:t>
            </a:r>
            <a:br/>
            <a:br/>
            <a:r>
              <a:t>Responsive interface for users and recruiters.</a:t>
            </a:r>
          </a:p>
        </p:txBody>
      </p:sp>
      <p:sp>
        <p:nvSpPr>
          <p:cNvPr id="8" name="Rounded Rectangle 7"/>
          <p:cNvSpPr/>
          <p:nvPr/>
        </p:nvSpPr>
        <p:spPr>
          <a:xfrm>
            <a:off x="4343400" y="1234440"/>
            <a:ext cx="3474720" cy="4297680"/>
          </a:xfrm>
          <a:prstGeom prst="roundRect">
            <a:avLst/>
          </a:prstGeom>
          <a:solidFill>
            <a:srgbClr val="F2F6FC"/>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43400" y="1234440"/>
            <a:ext cx="73152" cy="4297680"/>
          </a:xfrm>
          <a:prstGeom prst="rect">
            <a:avLst/>
          </a:prstGeom>
          <a:solidFill>
            <a:srgbClr val="2D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1399032"/>
            <a:ext cx="3063239" cy="411480"/>
          </a:xfrm>
          <a:prstGeom prst="rect">
            <a:avLst/>
          </a:prstGeom>
          <a:noFill/>
        </p:spPr>
        <p:txBody>
          <a:bodyPr wrap="none">
            <a:spAutoFit/>
          </a:bodyPr>
          <a:lstStyle/>
          <a:p>
            <a:pPr>
              <a:defRPr sz="1700" b="1">
                <a:solidFill>
                  <a:srgbClr val="182B4D"/>
                </a:solidFill>
              </a:defRPr>
            </a:pPr>
            <a:r>
              <a:t>Backend</a:t>
            </a:r>
          </a:p>
        </p:txBody>
      </p:sp>
      <p:sp>
        <p:nvSpPr>
          <p:cNvPr id="11" name="TextBox 10"/>
          <p:cNvSpPr txBox="1"/>
          <p:nvPr/>
        </p:nvSpPr>
        <p:spPr>
          <a:xfrm>
            <a:off x="4572000" y="1920240"/>
            <a:ext cx="3063239" cy="3383280"/>
          </a:xfrm>
          <a:prstGeom prst="rect">
            <a:avLst/>
          </a:prstGeom>
          <a:noFill/>
        </p:spPr>
        <p:txBody>
          <a:bodyPr wrap="square">
            <a:spAutoFit/>
          </a:bodyPr>
          <a:lstStyle/>
          <a:p>
            <a:pPr>
              <a:defRPr sz="1300">
                <a:solidFill>
                  <a:srgbClr val="232A34"/>
                </a:solidFill>
              </a:defRPr>
            </a:pPr>
            <a:r>
              <a:t>Node.js</a:t>
            </a:r>
            <a:br/>
            <a:r>
              <a:t>Express.js</a:t>
            </a:r>
            <a:br/>
            <a:r>
              <a:t>JWT</a:t>
            </a:r>
            <a:br/>
            <a:br/>
            <a:r>
              <a:t>Handles APIs, routing, authentication, authorization and server-side logic.</a:t>
            </a:r>
          </a:p>
        </p:txBody>
      </p:sp>
      <p:sp>
        <p:nvSpPr>
          <p:cNvPr id="12" name="Rounded Rectangle 11"/>
          <p:cNvSpPr/>
          <p:nvPr/>
        </p:nvSpPr>
        <p:spPr>
          <a:xfrm>
            <a:off x="8092440" y="1234440"/>
            <a:ext cx="3474720" cy="4297680"/>
          </a:xfrm>
          <a:prstGeom prst="roundRect">
            <a:avLst/>
          </a:prstGeom>
          <a:solidFill>
            <a:srgbClr val="F2F6FC"/>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92440" y="1234440"/>
            <a:ext cx="73152" cy="4297680"/>
          </a:xfrm>
          <a:prstGeom prst="rect">
            <a:avLst/>
          </a:prstGeom>
          <a:solidFill>
            <a:srgbClr val="E88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1399032"/>
            <a:ext cx="3063239" cy="411480"/>
          </a:xfrm>
          <a:prstGeom prst="rect">
            <a:avLst/>
          </a:prstGeom>
          <a:noFill/>
        </p:spPr>
        <p:txBody>
          <a:bodyPr wrap="none">
            <a:spAutoFit/>
          </a:bodyPr>
          <a:lstStyle/>
          <a:p>
            <a:pPr>
              <a:defRPr sz="1700" b="1">
                <a:solidFill>
                  <a:srgbClr val="182B4D"/>
                </a:solidFill>
              </a:defRPr>
            </a:pPr>
            <a:r>
              <a:t>Database</a:t>
            </a:r>
          </a:p>
        </p:txBody>
      </p:sp>
      <p:sp>
        <p:nvSpPr>
          <p:cNvPr id="15" name="TextBox 14"/>
          <p:cNvSpPr txBox="1"/>
          <p:nvPr/>
        </p:nvSpPr>
        <p:spPr>
          <a:xfrm>
            <a:off x="8321040" y="1920240"/>
            <a:ext cx="3063239" cy="3383280"/>
          </a:xfrm>
          <a:prstGeom prst="rect">
            <a:avLst/>
          </a:prstGeom>
          <a:noFill/>
        </p:spPr>
        <p:txBody>
          <a:bodyPr wrap="square">
            <a:spAutoFit/>
          </a:bodyPr>
          <a:lstStyle/>
          <a:p>
            <a:pPr>
              <a:defRPr sz="1300">
                <a:solidFill>
                  <a:srgbClr val="232A34"/>
                </a:solidFill>
              </a:defRPr>
            </a:pPr>
            <a:r>
              <a:t>MariaDB</a:t>
            </a:r>
            <a:br/>
            <a:br/>
            <a:r>
              <a:t>Stores users, job seekers, employers, jobs, skills, applications, saved jobs and admin logs.</a:t>
            </a:r>
          </a:p>
        </p:txBody>
      </p:sp>
      <p:sp>
        <p:nvSpPr>
          <p:cNvPr id="16" name="TextBox 15"/>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13</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68996" y="2492314"/>
            <a:ext cx="3935757" cy="1754326"/>
          </a:xfrm>
          <a:prstGeom prst="rect">
            <a:avLst/>
          </a:prstGeom>
        </p:spPr>
        <p:txBody>
          <a:bodyPr wrap="none">
            <a:spAutoFit/>
          </a:bodyPr>
          <a:lstStyle/>
          <a:p>
            <a:pPr>
              <a:defRPr sz="2600" b="1">
                <a:solidFill>
                  <a:srgbClr val="FFFFFF"/>
                </a:solidFill>
              </a:defRPr>
            </a:pPr>
            <a:r>
              <a:rPr lang="en-IN" sz="5400" dirty="0">
                <a:solidFill>
                  <a:schemeClr val="tx1">
                    <a:lumMod val="95000"/>
                    <a:lumOff val="5000"/>
                  </a:schemeClr>
                </a:solidFill>
              </a:rPr>
              <a:t>Future Scope</a:t>
            </a:r>
          </a:p>
          <a:p>
            <a:pPr>
              <a:defRPr sz="2600" b="1">
                <a:solidFill>
                  <a:srgbClr val="FFFFFF"/>
                </a:solidFill>
              </a:defRPr>
            </a:pPr>
            <a:endParaRPr lang="en-US" sz="5400" dirty="0">
              <a:solidFill>
                <a:schemeClr val="tx1">
                  <a:lumMod val="95000"/>
                  <a:lumOff val="5000"/>
                </a:schemeClr>
              </a:solidFill>
            </a:endParaRPr>
          </a:p>
        </p:txBody>
      </p:sp>
    </p:spTree>
    <p:extLst>
      <p:ext uri="{BB962C8B-B14F-4D97-AF65-F5344CB8AC3E}">
        <p14:creationId xmlns:p14="http://schemas.microsoft.com/office/powerpoint/2010/main" val="34610311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972800" cy="384048"/>
          </a:xfrm>
          <a:prstGeom prst="rect">
            <a:avLst/>
          </a:prstGeom>
          <a:noFill/>
        </p:spPr>
        <p:txBody>
          <a:bodyPr wrap="none">
            <a:spAutoFit/>
          </a:bodyPr>
          <a:lstStyle/>
          <a:p>
            <a:pPr>
              <a:defRPr sz="2600" b="1">
                <a:solidFill>
                  <a:srgbClr val="FFFFFF"/>
                </a:solidFill>
              </a:defRPr>
            </a:pPr>
            <a:r>
              <a:rPr dirty="0"/>
              <a:t>13. Future Scope</a:t>
            </a:r>
          </a:p>
        </p:txBody>
      </p:sp>
      <p:sp>
        <p:nvSpPr>
          <p:cNvPr id="4" name="TextBox 3"/>
          <p:cNvSpPr txBox="1"/>
          <p:nvPr/>
        </p:nvSpPr>
        <p:spPr>
          <a:xfrm>
            <a:off x="685800" y="1234440"/>
            <a:ext cx="10789920" cy="4937760"/>
          </a:xfrm>
          <a:prstGeom prst="rect">
            <a:avLst/>
          </a:prstGeom>
          <a:noFill/>
        </p:spPr>
        <p:txBody>
          <a:bodyPr wrap="square">
            <a:spAutoFit/>
          </a:bodyPr>
          <a:lstStyle/>
          <a:p>
            <a:pPr>
              <a:spcAft>
                <a:spcPts val="1300"/>
              </a:spcAft>
              <a:defRPr sz="2000">
                <a:solidFill>
                  <a:srgbClr val="232A34"/>
                </a:solidFill>
              </a:defRPr>
            </a:pPr>
            <a:r>
              <a:t>• AI-based job recommendations and automated resume parsing.</a:t>
            </a:r>
          </a:p>
          <a:p>
            <a:pPr>
              <a:spcAft>
                <a:spcPts val="1300"/>
              </a:spcAft>
              <a:defRPr sz="2000">
                <a:solidFill>
                  <a:srgbClr val="232A34"/>
                </a:solidFill>
              </a:defRPr>
            </a:pPr>
            <a:r>
              <a:t>• Advanced search filters, analytics dashboards and online skill assessments.</a:t>
            </a:r>
          </a:p>
          <a:p>
            <a:pPr>
              <a:spcAft>
                <a:spcPts val="1300"/>
              </a:spcAft>
              <a:defRPr sz="2000">
                <a:solidFill>
                  <a:srgbClr val="232A34"/>
                </a:solidFill>
              </a:defRPr>
            </a:pPr>
            <a:r>
              <a:t>• Android and iOS mobile applications.</a:t>
            </a:r>
          </a:p>
          <a:p>
            <a:pPr>
              <a:spcAft>
                <a:spcPts val="1300"/>
              </a:spcAft>
              <a:defRPr sz="2000">
                <a:solidFill>
                  <a:srgbClr val="232A34"/>
                </a:solidFill>
              </a:defRPr>
            </a:pPr>
            <a:r>
              <a:t>• Real-time chat, email/push notifications and multilingual support.</a:t>
            </a:r>
          </a:p>
          <a:p>
            <a:pPr>
              <a:spcAft>
                <a:spcPts val="1300"/>
              </a:spcAft>
              <a:defRPr sz="2000">
                <a:solidFill>
                  <a:srgbClr val="232A34"/>
                </a:solidFill>
              </a:defRPr>
            </a:pPr>
            <a:r>
              <a:t>• Freelance/remote opportunities and online video interview systems.</a:t>
            </a:r>
          </a:p>
        </p:txBody>
      </p:sp>
      <p:sp>
        <p:nvSpPr>
          <p:cNvPr id="5" name="TextBox 4"/>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14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02261" y="2576289"/>
            <a:ext cx="3316934" cy="1754326"/>
          </a:xfrm>
          <a:prstGeom prst="rect">
            <a:avLst/>
          </a:prstGeom>
        </p:spPr>
        <p:txBody>
          <a:bodyPr wrap="none">
            <a:spAutoFit/>
          </a:bodyPr>
          <a:lstStyle/>
          <a:p>
            <a:pPr>
              <a:defRPr sz="2600" b="1">
                <a:solidFill>
                  <a:srgbClr val="FFFFFF"/>
                </a:solidFill>
              </a:defRPr>
            </a:pPr>
            <a:r>
              <a:rPr lang="en-IN" sz="5400" dirty="0">
                <a:solidFill>
                  <a:schemeClr val="tx1">
                    <a:lumMod val="95000"/>
                    <a:lumOff val="5000"/>
                  </a:schemeClr>
                </a:solidFill>
              </a:rPr>
              <a:t>Conclusion</a:t>
            </a:r>
          </a:p>
          <a:p>
            <a:pPr>
              <a:defRPr sz="2600" b="1">
                <a:solidFill>
                  <a:srgbClr val="FFFFFF"/>
                </a:solidFill>
              </a:defRPr>
            </a:pPr>
            <a:endParaRPr lang="en-US" sz="5400" dirty="0">
              <a:solidFill>
                <a:schemeClr val="tx1">
                  <a:lumMod val="95000"/>
                  <a:lumOff val="5000"/>
                </a:schemeClr>
              </a:solidFill>
            </a:endParaRPr>
          </a:p>
        </p:txBody>
      </p:sp>
    </p:spTree>
    <p:extLst>
      <p:ext uri="{BB962C8B-B14F-4D97-AF65-F5344CB8AC3E}">
        <p14:creationId xmlns:p14="http://schemas.microsoft.com/office/powerpoint/2010/main" val="1790010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972800" cy="384048"/>
          </a:xfrm>
          <a:prstGeom prst="rect">
            <a:avLst/>
          </a:prstGeom>
          <a:noFill/>
        </p:spPr>
        <p:txBody>
          <a:bodyPr wrap="none">
            <a:spAutoFit/>
          </a:bodyPr>
          <a:lstStyle/>
          <a:p>
            <a:pPr>
              <a:defRPr sz="2600" b="1">
                <a:solidFill>
                  <a:srgbClr val="FFFFFF"/>
                </a:solidFill>
              </a:defRPr>
            </a:pPr>
            <a:r>
              <a:rPr dirty="0"/>
              <a:t>14. Conclusion</a:t>
            </a:r>
          </a:p>
        </p:txBody>
      </p:sp>
      <p:sp>
        <p:nvSpPr>
          <p:cNvPr id="4" name="TextBox 3"/>
          <p:cNvSpPr txBox="1"/>
          <p:nvPr/>
        </p:nvSpPr>
        <p:spPr>
          <a:xfrm>
            <a:off x="685800" y="1234440"/>
            <a:ext cx="10789920" cy="4937760"/>
          </a:xfrm>
          <a:prstGeom prst="rect">
            <a:avLst/>
          </a:prstGeom>
          <a:noFill/>
        </p:spPr>
        <p:txBody>
          <a:bodyPr wrap="square">
            <a:spAutoFit/>
          </a:bodyPr>
          <a:lstStyle/>
          <a:p>
            <a:pPr>
              <a:spcAft>
                <a:spcPts val="1300"/>
              </a:spcAft>
              <a:defRPr sz="2000">
                <a:solidFill>
                  <a:srgbClr val="232A34"/>
                </a:solidFill>
              </a:defRPr>
            </a:pPr>
            <a:r>
              <a:t>• The Job Portal Management System provides a centralized platform for job seekers and recruiters.</a:t>
            </a:r>
          </a:p>
          <a:p>
            <a:pPr>
              <a:spcAft>
                <a:spcPts val="1300"/>
              </a:spcAft>
              <a:defRPr sz="2000">
                <a:solidFill>
                  <a:srgbClr val="232A34"/>
                </a:solidFill>
              </a:defRPr>
            </a:pPr>
            <a:r>
              <a:t>• It supports job search, applications, job posting and recruitment management.</a:t>
            </a:r>
          </a:p>
          <a:p>
            <a:pPr>
              <a:spcAft>
                <a:spcPts val="1300"/>
              </a:spcAft>
              <a:defRPr sz="2000">
                <a:solidFill>
                  <a:srgbClr val="232A34"/>
                </a:solidFill>
              </a:defRPr>
            </a:pPr>
            <a:r>
              <a:t>• Centralized storage improves organization, accessibility and security of recruitment data.</a:t>
            </a:r>
          </a:p>
          <a:p>
            <a:pPr>
              <a:spcAft>
                <a:spcPts val="1300"/>
              </a:spcAft>
              <a:defRPr sz="2000">
                <a:solidFill>
                  <a:srgbClr val="232A34"/>
                </a:solidFill>
              </a:defRPr>
            </a:pPr>
            <a:r>
              <a:t>• The web-based system reduces manual work and helps make recruitment more structured and efficient.</a:t>
            </a:r>
          </a:p>
        </p:txBody>
      </p:sp>
      <p:sp>
        <p:nvSpPr>
          <p:cNvPr id="5" name="TextBox 4"/>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15</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04899" y="2502685"/>
            <a:ext cx="3334695" cy="1754326"/>
          </a:xfrm>
          <a:prstGeom prst="rect">
            <a:avLst/>
          </a:prstGeom>
        </p:spPr>
        <p:txBody>
          <a:bodyPr wrap="none">
            <a:spAutoFit/>
          </a:bodyPr>
          <a:lstStyle/>
          <a:p>
            <a:pPr>
              <a:defRPr sz="2600" b="1">
                <a:solidFill>
                  <a:srgbClr val="FFFFFF"/>
                </a:solidFill>
              </a:defRPr>
            </a:pPr>
            <a:r>
              <a:rPr lang="en-IN" sz="5400" dirty="0">
                <a:solidFill>
                  <a:schemeClr val="tx1">
                    <a:lumMod val="95000"/>
                    <a:lumOff val="5000"/>
                  </a:schemeClr>
                </a:solidFill>
              </a:rPr>
              <a:t>References</a:t>
            </a:r>
          </a:p>
          <a:p>
            <a:pPr>
              <a:defRPr sz="2600" b="1">
                <a:solidFill>
                  <a:srgbClr val="FFFFFF"/>
                </a:solidFill>
              </a:defRPr>
            </a:pPr>
            <a:endParaRPr lang="en-US" sz="5400" dirty="0">
              <a:solidFill>
                <a:schemeClr val="tx1">
                  <a:lumMod val="95000"/>
                  <a:lumOff val="5000"/>
                </a:schemeClr>
              </a:solidFill>
            </a:endParaRPr>
          </a:p>
        </p:txBody>
      </p:sp>
    </p:spTree>
    <p:extLst>
      <p:ext uri="{BB962C8B-B14F-4D97-AF65-F5344CB8AC3E}">
        <p14:creationId xmlns:p14="http://schemas.microsoft.com/office/powerpoint/2010/main" val="19541665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8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972800" cy="384048"/>
          </a:xfrm>
          <a:prstGeom prst="rect">
            <a:avLst/>
          </a:prstGeom>
          <a:noFill/>
        </p:spPr>
        <p:txBody>
          <a:bodyPr wrap="none">
            <a:spAutoFit/>
          </a:bodyPr>
          <a:lstStyle/>
          <a:p>
            <a:pPr>
              <a:defRPr sz="2600" b="1">
                <a:solidFill>
                  <a:srgbClr val="FFFFFF"/>
                </a:solidFill>
              </a:defRPr>
            </a:pPr>
            <a:r>
              <a:rPr dirty="0"/>
              <a:t>15. References</a:t>
            </a:r>
          </a:p>
        </p:txBody>
      </p:sp>
      <p:sp>
        <p:nvSpPr>
          <p:cNvPr id="4" name="TextBox 3"/>
          <p:cNvSpPr txBox="1"/>
          <p:nvPr/>
        </p:nvSpPr>
        <p:spPr>
          <a:xfrm>
            <a:off x="685800" y="1234440"/>
            <a:ext cx="10789920" cy="4937760"/>
          </a:xfrm>
          <a:prstGeom prst="rect">
            <a:avLst/>
          </a:prstGeom>
          <a:noFill/>
        </p:spPr>
        <p:txBody>
          <a:bodyPr wrap="square">
            <a:spAutoFit/>
          </a:bodyPr>
          <a:lstStyle/>
          <a:p>
            <a:pPr>
              <a:spcAft>
                <a:spcPts val="1300"/>
              </a:spcAft>
              <a:defRPr sz="1700">
                <a:solidFill>
                  <a:srgbClr val="232A34"/>
                </a:solidFill>
              </a:defRPr>
            </a:pPr>
            <a:r>
              <a:t>• W3Schools – HTML reference: https://www.w3schools.com/html/</a:t>
            </a:r>
          </a:p>
          <a:p>
            <a:pPr>
              <a:spcAft>
                <a:spcPts val="1300"/>
              </a:spcAft>
              <a:defRPr sz="1700">
                <a:solidFill>
                  <a:srgbClr val="232A34"/>
                </a:solidFill>
              </a:defRPr>
            </a:pPr>
            <a:r>
              <a:t>• MDN Web Docs – HTML: https://developer.mozilla.org/en-US/docs/Web/HTML</a:t>
            </a:r>
          </a:p>
          <a:p>
            <a:pPr>
              <a:spcAft>
                <a:spcPts val="1300"/>
              </a:spcAft>
              <a:defRPr sz="1700">
                <a:solidFill>
                  <a:srgbClr val="232A34"/>
                </a:solidFill>
              </a:defRPr>
            </a:pPr>
            <a:r>
              <a:t>• MDN Web Docs – CSS: https://developer.mozilla.org/en-US/docs/Web/CSS</a:t>
            </a:r>
          </a:p>
          <a:p>
            <a:pPr>
              <a:spcAft>
                <a:spcPts val="1300"/>
              </a:spcAft>
              <a:defRPr sz="1700">
                <a:solidFill>
                  <a:srgbClr val="232A34"/>
                </a:solidFill>
              </a:defRPr>
            </a:pPr>
            <a:r>
              <a:t>• MDN Web Docs – JavaScript: https://developer.mozilla.org/en-US/docs/Web/JavaScript</a:t>
            </a:r>
          </a:p>
          <a:p>
            <a:pPr>
              <a:spcAft>
                <a:spcPts val="1300"/>
              </a:spcAft>
              <a:defRPr sz="1700">
                <a:solidFill>
                  <a:srgbClr val="232A34"/>
                </a:solidFill>
              </a:defRPr>
            </a:pPr>
            <a:r>
              <a:t>• MariaDB Server Documentation: https://mariadb.com/kb/en/documentation/</a:t>
            </a:r>
          </a:p>
        </p:txBody>
      </p:sp>
      <p:sp>
        <p:nvSpPr>
          <p:cNvPr id="5" name="TextBox 4"/>
          <p:cNvSpPr txBox="1"/>
          <p:nvPr/>
        </p:nvSpPr>
        <p:spPr>
          <a:xfrm>
            <a:off x="10881360" y="6473952"/>
            <a:ext cx="731520" cy="228600"/>
          </a:xfrm>
          <a:prstGeom prst="rect">
            <a:avLst/>
          </a:prstGeom>
          <a:noFill/>
        </p:spPr>
        <p:txBody>
          <a:bodyPr wrap="none">
            <a:spAutoFit/>
          </a:bodyPr>
          <a:lstStyle/>
          <a:p>
            <a:pPr algn="r">
              <a:defRPr sz="900">
                <a:solidFill>
                  <a:srgbClr val="5B6778"/>
                </a:solidFill>
              </a:defRPr>
            </a:pPr>
            <a: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387</TotalTime>
  <Words>6959</Words>
  <Application>Microsoft Office PowerPoint</Application>
  <PresentationFormat>Widescreen</PresentationFormat>
  <Paragraphs>623</Paragraphs>
  <Slides>48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Aptos</vt: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Darsana</dc:creator>
  <cp:keywords/>
  <dc:description>generated using python-pptx</dc:description>
  <cp:lastModifiedBy>Diya Lal</cp:lastModifiedBy>
  <cp:revision>13</cp:revision>
  <dcterms:created xsi:type="dcterms:W3CDTF">2013-01-27T09:14:16Z</dcterms:created>
  <dcterms:modified xsi:type="dcterms:W3CDTF">2026-09-28T17:39:06Z</dcterms:modified>
  <cp:category/>
</cp:coreProperties>
</file>